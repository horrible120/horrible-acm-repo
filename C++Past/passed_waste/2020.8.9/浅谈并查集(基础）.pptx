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23"/>
  </p:handoutMasterIdLst>
  <p:sldIdLst>
    <p:sldId id="258" r:id="rId4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68" y="96"/>
      </p:cViewPr>
      <p:guideLst>
        <p:guide orient="horz" pos="219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C318B-334E-44D8-8BA3-DF6B5A0F2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C318B-334E-44D8-8BA3-DF6B5A0F2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4B5CFCB-418A-4561-8A25-60D8C0528A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4B5CFCB-418A-4561-8A25-60D8C0528A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C318B-334E-44D8-8BA3-DF6B5A0F2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fld id="{38DA1EAA-619E-4926-A39D-5EC7D189030C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C318B-334E-44D8-8BA3-DF6B5A0F2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C318B-334E-44D8-8BA3-DF6B5A0F2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C318B-334E-44D8-8BA3-DF6B5A0F2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C318B-334E-44D8-8BA3-DF6B5A0F2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C318B-334E-44D8-8BA3-DF6B5A0F2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C318B-334E-44D8-8BA3-DF6B5A0F2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C318B-334E-44D8-8BA3-DF6B5A0F2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4B5CFCB-418A-4561-8A25-60D8C0528A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4B5CFCB-418A-4561-8A25-60D8C0528A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C318B-334E-44D8-8BA3-DF6B5A0F2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1D939-3E60-4063-B05E-56844F97CE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C318B-334E-44D8-8BA3-DF6B5A0F2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61113" y="1371596"/>
            <a:ext cx="7086600" cy="1576659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61113" y="3040330"/>
            <a:ext cx="7086600" cy="747893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C16-BA6F-4C92-9EA9-67233FF267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1E9F-CDE5-4976-A53B-9F21ACD47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C16-BA6F-4C92-9EA9-67233FF267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1E9F-CDE5-4976-A53B-9F21ACD47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2601256" y="2342135"/>
            <a:ext cx="7055771" cy="1945650"/>
          </a:xfrm>
          <a:custGeom>
            <a:avLst/>
            <a:gdLst>
              <a:gd name="connsiteX0" fmla="*/ 1112071 w 4901184"/>
              <a:gd name="connsiteY0" fmla="*/ 0 h 1801368"/>
              <a:gd name="connsiteX1" fmla="*/ 4901184 w 4901184"/>
              <a:gd name="connsiteY1" fmla="*/ 0 h 1801368"/>
              <a:gd name="connsiteX2" fmla="*/ 4901184 w 4901184"/>
              <a:gd name="connsiteY2" fmla="*/ 1008251 h 1801368"/>
              <a:gd name="connsiteX3" fmla="*/ 3799357 w 4901184"/>
              <a:gd name="connsiteY3" fmla="*/ 1801368 h 1801368"/>
              <a:gd name="connsiteX4" fmla="*/ 0 w 4901184"/>
              <a:gd name="connsiteY4" fmla="*/ 1801368 h 1801368"/>
              <a:gd name="connsiteX5" fmla="*/ 0 w 4901184"/>
              <a:gd name="connsiteY5" fmla="*/ 80049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1184" h="1801368">
                <a:moveTo>
                  <a:pt x="1112071" y="0"/>
                </a:moveTo>
                <a:lnTo>
                  <a:pt x="4901184" y="0"/>
                </a:lnTo>
                <a:lnTo>
                  <a:pt x="4901184" y="1008251"/>
                </a:lnTo>
                <a:lnTo>
                  <a:pt x="3799357" y="1801368"/>
                </a:lnTo>
                <a:lnTo>
                  <a:pt x="0" y="1801368"/>
                </a:lnTo>
                <a:lnTo>
                  <a:pt x="0" y="800490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+mn-lt"/>
              <a:ea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876710" y="1947862"/>
            <a:ext cx="3028473" cy="1638804"/>
          </a:xfrm>
          <a:prstGeom prst="line">
            <a:avLst/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9" name="直接连接符 8"/>
          <p:cNvCxnSpPr/>
          <p:nvPr/>
        </p:nvCxnSpPr>
        <p:spPr>
          <a:xfrm flipH="1">
            <a:off x="7286817" y="3063825"/>
            <a:ext cx="3028474" cy="1638804"/>
          </a:xfrm>
          <a:prstGeom prst="line">
            <a:avLst/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0604" y="2399125"/>
            <a:ext cx="4519705" cy="621369"/>
          </a:xfrm>
        </p:spPr>
        <p:txBody>
          <a:bodyPr anchor="b">
            <a:normAutofit/>
          </a:bodyPr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9103" y="3123279"/>
            <a:ext cx="6201206" cy="733424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C16-BA6F-4C92-9EA9-67233FF267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1E9F-CDE5-4976-A53B-9F21ACD47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63040"/>
            <a:ext cx="5181600" cy="471392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63040"/>
            <a:ext cx="5181600" cy="471392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C16-BA6F-4C92-9EA9-67233FF267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1E9F-CDE5-4976-A53B-9F21ACD47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06475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98174"/>
            <a:ext cx="5157787" cy="561974"/>
          </a:xfrm>
        </p:spPr>
        <p:txBody>
          <a:bodyPr anchor="b">
            <a:norm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343150"/>
            <a:ext cx="5157787" cy="384651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98174"/>
            <a:ext cx="5183188" cy="561974"/>
          </a:xfrm>
        </p:spPr>
        <p:txBody>
          <a:bodyPr anchor="b">
            <a:norm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43150"/>
            <a:ext cx="5183188" cy="384651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C16-BA6F-4C92-9EA9-67233FF267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1E9F-CDE5-4976-A53B-9F21ACD47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1221" y="2530928"/>
            <a:ext cx="5135231" cy="915488"/>
          </a:xfrm>
        </p:spPr>
        <p:txBody>
          <a:bodyPr>
            <a:normAutofit/>
          </a:bodyPr>
          <a:lstStyle>
            <a:lvl1pPr algn="dist">
              <a:defRPr sz="5400"/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C16-BA6F-4C92-9EA9-67233FF267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1E9F-CDE5-4976-A53B-9F21ACD47DE9}" type="slidenum">
              <a:rPr lang="zh-CN" altLang="en-US" smtClean="0"/>
            </a:fld>
            <a:endParaRPr lang="zh-CN" altLang="en-US"/>
          </a:p>
        </p:txBody>
      </p:sp>
      <p:sp>
        <p:nvSpPr>
          <p:cNvPr id="7" name="空心弧 6"/>
          <p:cNvSpPr/>
          <p:nvPr/>
        </p:nvSpPr>
        <p:spPr bwMode="auto">
          <a:xfrm rot="7086271">
            <a:off x="6818498" y="2028752"/>
            <a:ext cx="1934898" cy="1934898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0" t="1313" r="2131" b="15236"/>
          <a:stretch>
            <a:fillRect/>
          </a:stretch>
        </p:blipFill>
        <p:spPr>
          <a:xfrm>
            <a:off x="0" y="-1"/>
            <a:ext cx="12188968" cy="686235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C16-BA6F-4C92-9EA9-67233FF267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1E9F-CDE5-4976-A53B-9F21ACD47DE9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-3032" y="0"/>
            <a:ext cx="12192000" cy="6496595"/>
          </a:xfrm>
          <a:prstGeom prst="rect">
            <a:avLst/>
          </a:prstGeom>
          <a:gradFill flip="none" rotWithShape="1">
            <a:gsLst>
              <a:gs pos="19000">
                <a:schemeClr val="bg1">
                  <a:alpha val="91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651162"/>
            <a:ext cx="416520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707" y="651162"/>
            <a:ext cx="6172092" cy="54036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6" y="2251362"/>
            <a:ext cx="416520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C16-BA6F-4C92-9EA9-67233FF267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1E9F-CDE5-4976-A53B-9F21ACD47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75653" y="365125"/>
            <a:ext cx="1278146" cy="5811838"/>
          </a:xfrm>
        </p:spPr>
        <p:txBody>
          <a:bodyPr vert="eaVert"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909943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C16-BA6F-4C92-9EA9-67233FF267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1E9F-CDE5-4976-A53B-9F21ACD47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C16-BA6F-4C92-9EA9-67233FF267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1E9F-CDE5-4976-A53B-9F21ACD47DE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1" y="555626"/>
            <a:ext cx="10515600" cy="53879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5" Type="http://schemas.openxmlformats.org/officeDocument/2006/relationships/theme" Target="../theme/theme2.xml"/><Relationship Id="rId14" Type="http://schemas.openxmlformats.org/officeDocument/2006/relationships/tags" Target="../tags/tag6.xml"/><Relationship Id="rId13" Type="http://schemas.openxmlformats.org/officeDocument/2006/relationships/tags" Target="../tags/tag5.xml"/><Relationship Id="rId12" Type="http://schemas.openxmlformats.org/officeDocument/2006/relationships/tags" Target="../tags/tag4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6880" y="-12879"/>
            <a:ext cx="12198880" cy="6496595"/>
          </a:xfrm>
          <a:prstGeom prst="rect">
            <a:avLst/>
          </a:prstGeom>
          <a:gradFill flip="none" rotWithShape="1">
            <a:gsLst>
              <a:gs pos="19000">
                <a:schemeClr val="bg1">
                  <a:alpha val="91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6"/>
            <a:ext cx="10515600" cy="977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489166"/>
            <a:ext cx="10515600" cy="4687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25C16-BA6F-4C92-9EA9-67233FF267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F1E9F-CDE5-4976-A53B-9F21ACD47DE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70000"/>
        <a:buFont typeface="Wingdings 2" panose="05020102010507070707" pitchFamily="18" charset="2"/>
        <a:buChar char=""/>
        <a:defRPr sz="2400" kern="1200">
          <a:solidFill>
            <a:schemeClr val="accent3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3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3.xml"/><Relationship Id="rId3" Type="http://schemas.openxmlformats.org/officeDocument/2006/relationships/image" Target="../media/image4.png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6.xml"/><Relationship Id="rId3" Type="http://schemas.openxmlformats.org/officeDocument/2006/relationships/image" Target="../media/image5.png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9.xml"/><Relationship Id="rId3" Type="http://schemas.openxmlformats.org/officeDocument/2006/relationships/image" Target="../media/image6.png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52.xml"/><Relationship Id="rId3" Type="http://schemas.openxmlformats.org/officeDocument/2006/relationships/image" Target="../media/image7.png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55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hyperlink" Target="https://www.luogu.org/problemnew/show/P3367" TargetMode="Externa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61.xml"/><Relationship Id="rId4" Type="http://schemas.openxmlformats.org/officeDocument/2006/relationships/image" Target="../media/image10.png"/><Relationship Id="rId3" Type="http://schemas.openxmlformats.org/officeDocument/2006/relationships/hyperlink" Target="https://www.luogu.org/problemnew/show/P3366" TargetMode="Externa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65.xml"/><Relationship Id="rId4" Type="http://schemas.openxmlformats.org/officeDocument/2006/relationships/hyperlink" Target="https://jingyan.baidu.com/article/9113f81b6707c52b3214c794.html" TargetMode="Externa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2.xml"/><Relationship Id="rId3" Type="http://schemas.openxmlformats.org/officeDocument/2006/relationships/image" Target="../media/image11.png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76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hyperlink" Target="https://www.luogu.org/problemnew/show/P1111" TargetMode="External"/><Relationship Id="rId4" Type="http://schemas.openxmlformats.org/officeDocument/2006/relationships/hyperlink" Target="https://www.luogu.org/problemnew/show/P1551" TargetMode="Externa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0" Type="http://schemas.openxmlformats.org/officeDocument/2006/relationships/notesSlide" Target="../notesSlides/notesSlide17.xml"/><Relationship Id="rId1" Type="http://schemas.openxmlformats.org/officeDocument/2006/relationships/tags" Target="../tags/tag73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6.xml"/><Relationship Id="rId4" Type="http://schemas.openxmlformats.org/officeDocument/2006/relationships/tags" Target="../tags/tag79.xml"/><Relationship Id="rId3" Type="http://schemas.openxmlformats.org/officeDocument/2006/relationships/image" Target="../media/image14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灯片编号占位符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 bwMode="auto">
          <a:xfrm>
            <a:off x="8610600" y="6356351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3DB2FE-6C4D-4FDC-BB4A-AD8697AE825B}" type="slidenum">
              <a:rPr lang="en-US" altLang="zh-CN" smtClean="0">
                <a:solidFill>
                  <a:schemeClr val="bg1"/>
                </a:solidFill>
                <a:latin typeface="+mn-lt"/>
                <a:ea typeface="+mn-ea"/>
              </a:rPr>
            </a:fld>
            <a:endParaRPr lang="en-US" altLang="zh-CN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9" name="任意多边形 8"/>
          <p:cNvSpPr/>
          <p:nvPr>
            <p:custDataLst>
              <p:tags r:id="rId2"/>
            </p:custDataLst>
          </p:nvPr>
        </p:nvSpPr>
        <p:spPr>
          <a:xfrm>
            <a:off x="4657725" y="-9524"/>
            <a:ext cx="2876550" cy="1029432"/>
          </a:xfrm>
          <a:custGeom>
            <a:avLst/>
            <a:gdLst>
              <a:gd name="connsiteX0" fmla="*/ 0 w 2476500"/>
              <a:gd name="connsiteY0" fmla="*/ 0 h 906463"/>
              <a:gd name="connsiteX1" fmla="*/ 2476500 w 2476500"/>
              <a:gd name="connsiteY1" fmla="*/ 0 h 906463"/>
              <a:gd name="connsiteX2" fmla="*/ 2476500 w 2476500"/>
              <a:gd name="connsiteY2" fmla="*/ 679847 h 906463"/>
              <a:gd name="connsiteX3" fmla="*/ 1238250 w 2476500"/>
              <a:gd name="connsiteY3" fmla="*/ 906463 h 906463"/>
              <a:gd name="connsiteX4" fmla="*/ 0 w 2476500"/>
              <a:gd name="connsiteY4" fmla="*/ 679847 h 906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0" h="906463">
                <a:moveTo>
                  <a:pt x="0" y="0"/>
                </a:moveTo>
                <a:lnTo>
                  <a:pt x="2476500" y="0"/>
                </a:lnTo>
                <a:lnTo>
                  <a:pt x="2476500" y="679847"/>
                </a:lnTo>
                <a:lnTo>
                  <a:pt x="1238250" y="906463"/>
                </a:lnTo>
                <a:lnTo>
                  <a:pt x="0" y="6798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 sz="2800" kern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目录</a:t>
            </a:r>
            <a:endParaRPr lang="zh-CN" altLang="en-US" sz="2800" kern="0" smtClean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33470" y="2011680"/>
            <a:ext cx="4857750" cy="454660"/>
            <a:chOff x="5722" y="3168"/>
            <a:chExt cx="7650" cy="716"/>
          </a:xfrm>
        </p:grpSpPr>
        <p:sp>
          <p:nvSpPr>
            <p:cNvPr id="15" name="Rectangle 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722" y="3168"/>
              <a:ext cx="621" cy="717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normAutofit lnSpcReduction="10000"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solidFill>
                    <a:schemeClr val="accent1"/>
                  </a:solidFill>
                  <a:latin typeface="+mn-lt"/>
                  <a:ea typeface="+mn-ea"/>
                </a:rPr>
                <a:t>01</a:t>
              </a:r>
              <a:endParaRPr lang="zh-CN" altLang="en-US" sz="2400" dirty="0">
                <a:solidFill>
                  <a:schemeClr val="accent1"/>
                </a:solidFill>
                <a:latin typeface="+mn-lt"/>
                <a:ea typeface="+mn-ea"/>
              </a:endParaRPr>
            </a:p>
          </p:txBody>
        </p:sp>
        <p:sp>
          <p:nvSpPr>
            <p:cNvPr id="16" name="AutoShape 8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536" y="3204"/>
              <a:ext cx="6837" cy="649"/>
            </a:xfrm>
            <a:prstGeom prst="roundRect">
              <a:avLst>
                <a:gd name="adj" fmla="val 11718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72000" tIns="0" rIns="72000" bIns="36000" anchor="ctr">
              <a:norm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+mn-lt"/>
                  <a:ea typeface="+mn-ea"/>
                </a:rPr>
                <a:t>并查集是什么？</a:t>
              </a:r>
              <a:endParaRPr lang="zh-CN" altLang="en-US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633470" y="3172460"/>
            <a:ext cx="4857750" cy="454660"/>
            <a:chOff x="5722" y="4996"/>
            <a:chExt cx="7650" cy="716"/>
          </a:xfrm>
        </p:grpSpPr>
        <p:sp>
          <p:nvSpPr>
            <p:cNvPr id="18" name="Rectangle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722" y="4996"/>
              <a:ext cx="621" cy="717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normAutofit lnSpcReduction="10000"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solidFill>
                    <a:schemeClr val="accent1"/>
                  </a:solidFill>
                  <a:latin typeface="+mn-lt"/>
                  <a:ea typeface="+mn-ea"/>
                </a:rPr>
                <a:t>02</a:t>
              </a:r>
              <a:endParaRPr lang="zh-CN" altLang="en-US" sz="2400" dirty="0">
                <a:solidFill>
                  <a:schemeClr val="accent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AutoShape 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536" y="5033"/>
              <a:ext cx="6837" cy="649"/>
            </a:xfrm>
            <a:prstGeom prst="roundRect">
              <a:avLst>
                <a:gd name="adj" fmla="val 11718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72000" tIns="0" rIns="72000" bIns="36000" anchor="ctr">
              <a:norm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+mn-lt"/>
                  <a:ea typeface="+mn-ea"/>
                </a:rPr>
                <a:t>如何实现并查集？</a:t>
              </a:r>
              <a:endParaRPr lang="zh-CN" altLang="en-US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633470" y="4333875"/>
            <a:ext cx="4857750" cy="454660"/>
            <a:chOff x="5722" y="6825"/>
            <a:chExt cx="7650" cy="716"/>
          </a:xfrm>
        </p:grpSpPr>
        <p:sp>
          <p:nvSpPr>
            <p:cNvPr id="21" name="Rectangle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722" y="6825"/>
              <a:ext cx="621" cy="717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normAutofit lnSpcReduction="10000"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solidFill>
                    <a:schemeClr val="accent1"/>
                  </a:solidFill>
                  <a:latin typeface="+mn-lt"/>
                  <a:ea typeface="+mn-ea"/>
                </a:rPr>
                <a:t>03</a:t>
              </a:r>
              <a:endParaRPr lang="zh-CN" altLang="en-US" sz="2400" dirty="0">
                <a:solidFill>
                  <a:schemeClr val="accent1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AutoShape 8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536" y="6862"/>
              <a:ext cx="6837" cy="649"/>
            </a:xfrm>
            <a:prstGeom prst="roundRect">
              <a:avLst>
                <a:gd name="adj" fmla="val 11718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72000" tIns="0" rIns="72000" bIns="36000" anchor="ctr">
              <a:norm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+mn-lt"/>
                  <a:ea typeface="+mn-ea"/>
                </a:rPr>
                <a:t>并查集相关例题</a:t>
              </a:r>
              <a:r>
                <a:rPr lang="en-US" altLang="zh-CN" dirty="0">
                  <a:solidFill>
                    <a:schemeClr val="bg1"/>
                  </a:solidFill>
                  <a:latin typeface="+mn-lt"/>
                  <a:ea typeface="+mn-ea"/>
                </a:rPr>
                <a:t>——</a:t>
              </a:r>
              <a:r>
                <a:rPr lang="zh-CN" altLang="en-US" dirty="0">
                  <a:solidFill>
                    <a:schemeClr val="bg1"/>
                  </a:solidFill>
                  <a:latin typeface="+mn-lt"/>
                  <a:ea typeface="+mn-ea"/>
                </a:rPr>
                <a:t>图的最小生成树</a:t>
              </a:r>
              <a:endParaRPr lang="zh-CN" altLang="en-US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</p:spTree>
    <p:custDataLst>
      <p:tags r:id="rId9"/>
    </p:custDataLst>
  </p:cSld>
  <p:clrMapOvr>
    <a:masterClrMapping/>
  </p:clrMapOvr>
  <p:transition advClick="0" advTm="3000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j-lt"/>
                <a:ea typeface="+mj-ea"/>
              </a:rPr>
              <a:t>01 </a:t>
            </a:r>
            <a:r>
              <a:rPr lang="zh-CN" altLang="en-US" dirty="0">
                <a:latin typeface="+mj-lt"/>
                <a:ea typeface="+mj-ea"/>
              </a:rPr>
              <a:t>并查集是什么？</a:t>
            </a:r>
            <a:endParaRPr lang="zh-CN" altLang="en-US" dirty="0">
              <a:latin typeface="+mj-lt"/>
              <a:ea typeface="+mj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</a:rPr>
              <a:t>介绍并查集的概念以及并查集的特点</a:t>
            </a:r>
            <a:endParaRPr lang="zh-CN" altLang="en-US" dirty="0">
              <a:latin typeface="+mn-lt"/>
              <a:ea typeface="+mn-ea"/>
            </a:endParaRPr>
          </a:p>
        </p:txBody>
      </p:sp>
    </p:spTree>
    <p:custDataLst>
      <p:tags r:id="rId3"/>
    </p:custDataLst>
  </p:cSld>
  <p:clrMapOvr>
    <a:masterClrMapping/>
  </p:clrMapOvr>
  <p:transition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直接连接符 70"/>
          <p:cNvCxnSpPr/>
          <p:nvPr>
            <p:custDataLst>
              <p:tags r:id="rId1"/>
            </p:custDataLst>
          </p:nvPr>
        </p:nvCxnSpPr>
        <p:spPr>
          <a:xfrm>
            <a:off x="2436770" y="1371540"/>
            <a:ext cx="73184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zh-CN" altLang="en-US" b="1" dirty="0">
                <a:latin typeface="+mj-lt"/>
                <a:ea typeface="+mj-ea"/>
              </a:rPr>
              <a:t>并查集是什么？</a:t>
            </a:r>
            <a:endParaRPr lang="zh-CN" altLang="en-US" b="1" dirty="0">
              <a:latin typeface="+mj-lt"/>
              <a:ea typeface="+mj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	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我们把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并查集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这三个字分开理解：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并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意思为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合并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查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意思为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查找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集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意思是集合。综合一下，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并查集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就是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合并查找集合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。</a:t>
            </a:r>
            <a:endParaRPr lang="zh-CN" altLang="en-US" sz="20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	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这里就有人会发问了：集合是什么？</a:t>
            </a:r>
            <a:endParaRPr lang="zh-CN" altLang="en-US" sz="20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	若干个具有某种共性的元素互相联系在一起，组合起来，就是集合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。</a:t>
            </a:r>
            <a:endParaRPr lang="zh-CN" altLang="en-US" sz="20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	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并查集，就是一种可以快速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合并集合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查找集合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的算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法。</a:t>
            </a:r>
            <a:endParaRPr lang="zh-CN" altLang="en-US" sz="20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	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实际上是通过改变元素的父亲节点，将元素所在的集合构造成树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，依靠维护一个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森林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的数据结构而实现的。</a:t>
            </a:r>
            <a:endParaRPr lang="zh-CN" altLang="en-US" sz="200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4"/>
    </p:custDataLst>
  </p:cSld>
  <p:clrMapOvr>
    <a:masterClrMapping/>
  </p:clrMapOvr>
  <p:transition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直接连接符 70"/>
          <p:cNvCxnSpPr/>
          <p:nvPr>
            <p:custDataLst>
              <p:tags r:id="rId1"/>
            </p:custDataLst>
          </p:nvPr>
        </p:nvCxnSpPr>
        <p:spPr>
          <a:xfrm>
            <a:off x="2436770" y="1371540"/>
            <a:ext cx="73184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zh-CN" altLang="en-US" b="1" dirty="0">
                <a:latin typeface="+mj-lt"/>
                <a:ea typeface="+mj-ea"/>
              </a:rPr>
              <a:t>并查集的特点</a:t>
            </a:r>
            <a:endParaRPr lang="zh-CN" altLang="en-US" b="1" dirty="0">
              <a:latin typeface="+mj-lt"/>
              <a:ea typeface="+mj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489075"/>
            <a:ext cx="10596880" cy="468757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	并查集处理的问题是集合相关的处理，操作的对象是集合，并查集对集合进行合并、查询，要把数据都变成集合的形式来存放。</a:t>
            </a:r>
            <a:endParaRPr lang="en-US" altLang="zh-CN" sz="20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	每个集合有一个代表元，代表元被选出来用于代表这个集合的元素和索引出集合内其他元素。</a:t>
            </a:r>
            <a:endParaRPr lang="en-US" altLang="zh-CN" sz="20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	一个集合内的元素以树形结构存储下来，代表元就是这棵树的根结点，其他数据为代表元的儿子。节点之间的父子关系代表着数据被引入集合的关系。</a:t>
            </a:r>
            <a:endParaRPr lang="en-US" altLang="zh-CN" sz="200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4"/>
    </p:custDataLst>
  </p:cSld>
  <p:clrMapOvr>
    <a:masterClrMapping/>
  </p:clrMapOvr>
  <p:transition>
    <p:wipe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j-lt"/>
                <a:ea typeface="+mj-ea"/>
              </a:rPr>
              <a:t>02 </a:t>
            </a:r>
            <a:r>
              <a:rPr lang="zh-CN" altLang="en-US" dirty="0">
                <a:latin typeface="+mj-lt"/>
                <a:ea typeface="+mj-ea"/>
              </a:rPr>
              <a:t>如何实现并查集？</a:t>
            </a:r>
            <a:endParaRPr lang="zh-CN" altLang="en-US" dirty="0">
              <a:latin typeface="+mj-lt"/>
              <a:ea typeface="+mj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</a:rPr>
              <a:t>讲解</a:t>
            </a:r>
            <a:r>
              <a:rPr lang="zh-CN" altLang="en-US" dirty="0">
                <a:latin typeface="+mn-lt"/>
                <a:ea typeface="+mn-ea"/>
              </a:rPr>
              <a:t>并查集的代码实现方法</a:t>
            </a:r>
            <a:endParaRPr lang="zh-CN" altLang="en-US" dirty="0">
              <a:latin typeface="+mn-lt"/>
              <a:ea typeface="+mn-ea"/>
            </a:endParaRPr>
          </a:p>
        </p:txBody>
      </p:sp>
    </p:spTree>
    <p:custDataLst>
      <p:tags r:id="rId3"/>
    </p:custDataLst>
  </p:cSld>
  <p:clrMapOvr>
    <a:masterClrMapping/>
  </p:clrMapOvr>
  <p:transition>
    <p:pull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>
            <p:custDataLst>
              <p:tags r:id="rId1"/>
            </p:custDataLst>
          </p:nvPr>
        </p:nvCxnSpPr>
        <p:spPr>
          <a:xfrm>
            <a:off x="2268410" y="2288809"/>
            <a:ext cx="7588658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圆角矩形 3"/>
          <p:cNvSpPr/>
          <p:nvPr>
            <p:custDataLst>
              <p:tags r:id="rId2"/>
            </p:custDataLst>
          </p:nvPr>
        </p:nvSpPr>
        <p:spPr>
          <a:xfrm>
            <a:off x="2839918" y="2076084"/>
            <a:ext cx="969963" cy="2805112"/>
          </a:xfrm>
          <a:custGeom>
            <a:avLst/>
            <a:gdLst/>
            <a:ahLst/>
            <a:cxnLst/>
            <a:rect l="l" t="t" r="r" b="b"/>
            <a:pathLst>
              <a:path w="1812726" h="5242133">
                <a:moveTo>
                  <a:pt x="912626" y="0"/>
                </a:moveTo>
                <a:cubicBezTo>
                  <a:pt x="1409738" y="0"/>
                  <a:pt x="1812726" y="402988"/>
                  <a:pt x="1812726" y="900100"/>
                </a:cubicBezTo>
                <a:lnTo>
                  <a:pt x="1812726" y="1842307"/>
                </a:lnTo>
                <a:lnTo>
                  <a:pt x="1812726" y="2685849"/>
                </a:lnTo>
                <a:lnTo>
                  <a:pt x="1812726" y="5056010"/>
                </a:lnTo>
                <a:cubicBezTo>
                  <a:pt x="1812726" y="5158803"/>
                  <a:pt x="1729396" y="5242133"/>
                  <a:pt x="1626603" y="5242133"/>
                </a:cubicBezTo>
                <a:lnTo>
                  <a:pt x="198649" y="5242133"/>
                </a:lnTo>
                <a:cubicBezTo>
                  <a:pt x="95856" y="5242133"/>
                  <a:pt x="12526" y="5158803"/>
                  <a:pt x="12526" y="5056010"/>
                </a:cubicBezTo>
                <a:cubicBezTo>
                  <a:pt x="8351" y="4320236"/>
                  <a:pt x="4175" y="3584461"/>
                  <a:pt x="0" y="2848687"/>
                </a:cubicBezTo>
                <a:cubicBezTo>
                  <a:pt x="40175" y="2338496"/>
                  <a:pt x="-32831" y="2194954"/>
                  <a:pt x="253577" y="1994864"/>
                </a:cubicBezTo>
                <a:cubicBezTo>
                  <a:pt x="539985" y="1794774"/>
                  <a:pt x="738188" y="1867635"/>
                  <a:pt x="966888" y="1798458"/>
                </a:cubicBezTo>
                <a:cubicBezTo>
                  <a:pt x="1354493" y="1691732"/>
                  <a:pt x="1582191" y="1290999"/>
                  <a:pt x="1475466" y="903394"/>
                </a:cubicBezTo>
                <a:cubicBezTo>
                  <a:pt x="1368741" y="515789"/>
                  <a:pt x="968008" y="288091"/>
                  <a:pt x="580402" y="394816"/>
                </a:cubicBezTo>
                <a:lnTo>
                  <a:pt x="577217" y="395693"/>
                </a:lnTo>
                <a:lnTo>
                  <a:pt x="169398" y="395693"/>
                </a:lnTo>
                <a:cubicBezTo>
                  <a:pt x="329669" y="156462"/>
                  <a:pt x="602875" y="0"/>
                  <a:pt x="912626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36000" tIns="1260000" rIns="36000">
            <a:norm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kern="0" dirty="0">
                <a:solidFill>
                  <a:schemeClr val="bg1"/>
                </a:solidFill>
              </a:rPr>
              <a:t>并查集的初始化</a:t>
            </a:r>
            <a:endParaRPr lang="zh-CN" altLang="en-US" kern="0" dirty="0">
              <a:solidFill>
                <a:schemeClr val="bg1"/>
              </a:solidFill>
            </a:endParaRPr>
          </a:p>
        </p:txBody>
      </p:sp>
      <p:sp>
        <p:nvSpPr>
          <p:cNvPr id="22" name="KSO_GN1"/>
          <p:cNvSpPr txBox="1"/>
          <p:nvPr>
            <p:custDataLst>
              <p:tags r:id="rId3"/>
            </p:custDataLst>
          </p:nvPr>
        </p:nvSpPr>
        <p:spPr>
          <a:xfrm>
            <a:off x="2808168" y="4908184"/>
            <a:ext cx="1031875" cy="683264"/>
          </a:xfrm>
          <a:prstGeom prst="rect">
            <a:avLst/>
          </a:prstGeom>
          <a:noFill/>
          <a:effectLst/>
        </p:spPr>
        <p:txBody>
          <a:bodyPr>
            <a:normAutofit fontScale="90000" lnSpcReduction="20000"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altLang="zh-CN" sz="4800" b="1" kern="0" dirty="0">
                <a:solidFill>
                  <a:schemeClr val="accent1"/>
                </a:solidFill>
              </a:rPr>
              <a:t>01</a:t>
            </a:r>
            <a:endParaRPr lang="zh-CN" altLang="en-US" sz="4800" b="1" kern="0" dirty="0">
              <a:solidFill>
                <a:schemeClr val="accent1"/>
              </a:solidFill>
            </a:endParaRPr>
          </a:p>
        </p:txBody>
      </p:sp>
      <p:sp>
        <p:nvSpPr>
          <p:cNvPr id="23" name="圆角矩形 3"/>
          <p:cNvSpPr/>
          <p:nvPr>
            <p:custDataLst>
              <p:tags r:id="rId4"/>
            </p:custDataLst>
          </p:nvPr>
        </p:nvSpPr>
        <p:spPr>
          <a:xfrm>
            <a:off x="4679586" y="2076084"/>
            <a:ext cx="969962" cy="2805112"/>
          </a:xfrm>
          <a:custGeom>
            <a:avLst/>
            <a:gdLst/>
            <a:ahLst/>
            <a:cxnLst/>
            <a:rect l="l" t="t" r="r" b="b"/>
            <a:pathLst>
              <a:path w="1812726" h="5242133">
                <a:moveTo>
                  <a:pt x="912626" y="0"/>
                </a:moveTo>
                <a:cubicBezTo>
                  <a:pt x="1409738" y="0"/>
                  <a:pt x="1812726" y="402988"/>
                  <a:pt x="1812726" y="900100"/>
                </a:cubicBezTo>
                <a:lnTo>
                  <a:pt x="1812726" y="1842307"/>
                </a:lnTo>
                <a:lnTo>
                  <a:pt x="1812726" y="2685849"/>
                </a:lnTo>
                <a:lnTo>
                  <a:pt x="1812726" y="5056010"/>
                </a:lnTo>
                <a:cubicBezTo>
                  <a:pt x="1812726" y="5158803"/>
                  <a:pt x="1729396" y="5242133"/>
                  <a:pt x="1626603" y="5242133"/>
                </a:cubicBezTo>
                <a:lnTo>
                  <a:pt x="198649" y="5242133"/>
                </a:lnTo>
                <a:cubicBezTo>
                  <a:pt x="95856" y="5242133"/>
                  <a:pt x="12526" y="5158803"/>
                  <a:pt x="12526" y="5056010"/>
                </a:cubicBezTo>
                <a:cubicBezTo>
                  <a:pt x="8351" y="4320236"/>
                  <a:pt x="4175" y="3584461"/>
                  <a:pt x="0" y="2848687"/>
                </a:cubicBezTo>
                <a:cubicBezTo>
                  <a:pt x="40175" y="2338496"/>
                  <a:pt x="-32831" y="2194954"/>
                  <a:pt x="253577" y="1994864"/>
                </a:cubicBezTo>
                <a:cubicBezTo>
                  <a:pt x="539985" y="1794774"/>
                  <a:pt x="738188" y="1867635"/>
                  <a:pt x="966888" y="1798458"/>
                </a:cubicBezTo>
                <a:cubicBezTo>
                  <a:pt x="1354493" y="1691732"/>
                  <a:pt x="1582191" y="1290999"/>
                  <a:pt x="1475466" y="903394"/>
                </a:cubicBezTo>
                <a:cubicBezTo>
                  <a:pt x="1368741" y="515789"/>
                  <a:pt x="968008" y="288091"/>
                  <a:pt x="580402" y="394816"/>
                </a:cubicBezTo>
                <a:lnTo>
                  <a:pt x="577217" y="395693"/>
                </a:lnTo>
                <a:lnTo>
                  <a:pt x="169398" y="395693"/>
                </a:lnTo>
                <a:cubicBezTo>
                  <a:pt x="329669" y="156462"/>
                  <a:pt x="602875" y="0"/>
                  <a:pt x="912626" y="0"/>
                </a:cubicBezTo>
                <a:close/>
              </a:path>
            </a:pathLst>
          </a:cu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lIns="36000" tIns="1260000" rIns="36000">
            <a:norm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kern="0" dirty="0">
                <a:solidFill>
                  <a:schemeClr val="bg1"/>
                </a:solidFill>
              </a:rPr>
              <a:t>并查集的集合查找</a:t>
            </a:r>
            <a:endParaRPr lang="zh-CN" altLang="en-US" kern="0" dirty="0">
              <a:solidFill>
                <a:schemeClr val="bg1"/>
              </a:solidFill>
            </a:endParaRPr>
          </a:p>
        </p:txBody>
      </p:sp>
      <p:sp>
        <p:nvSpPr>
          <p:cNvPr id="24" name="KSO_GN2"/>
          <p:cNvSpPr txBox="1"/>
          <p:nvPr>
            <p:custDataLst>
              <p:tags r:id="rId5"/>
            </p:custDataLst>
          </p:nvPr>
        </p:nvSpPr>
        <p:spPr>
          <a:xfrm>
            <a:off x="4647836" y="4908184"/>
            <a:ext cx="1033462" cy="683264"/>
          </a:xfrm>
          <a:prstGeom prst="rect">
            <a:avLst/>
          </a:prstGeom>
          <a:noFill/>
          <a:effectLst/>
        </p:spPr>
        <p:txBody>
          <a:bodyPr>
            <a:normAutofit fontScale="90000" lnSpcReduction="20000"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altLang="zh-CN" sz="4800" b="1" kern="0" dirty="0">
                <a:solidFill>
                  <a:schemeClr val="accent2"/>
                </a:solidFill>
              </a:rPr>
              <a:t>02</a:t>
            </a:r>
            <a:endParaRPr lang="zh-CN" altLang="en-US" sz="4800" b="1" kern="0" dirty="0">
              <a:solidFill>
                <a:schemeClr val="accent2"/>
              </a:solidFill>
            </a:endParaRPr>
          </a:p>
        </p:txBody>
      </p:sp>
      <p:sp>
        <p:nvSpPr>
          <p:cNvPr id="9" name="圆角矩形 3"/>
          <p:cNvSpPr/>
          <p:nvPr>
            <p:custDataLst>
              <p:tags r:id="rId6"/>
            </p:custDataLst>
          </p:nvPr>
        </p:nvSpPr>
        <p:spPr>
          <a:xfrm>
            <a:off x="6521208" y="2076084"/>
            <a:ext cx="969962" cy="2805112"/>
          </a:xfrm>
          <a:custGeom>
            <a:avLst/>
            <a:gdLst/>
            <a:ahLst/>
            <a:cxnLst/>
            <a:rect l="l" t="t" r="r" b="b"/>
            <a:pathLst>
              <a:path w="1812726" h="5242133">
                <a:moveTo>
                  <a:pt x="912626" y="0"/>
                </a:moveTo>
                <a:cubicBezTo>
                  <a:pt x="1409738" y="0"/>
                  <a:pt x="1812726" y="402988"/>
                  <a:pt x="1812726" y="900100"/>
                </a:cubicBezTo>
                <a:lnTo>
                  <a:pt x="1812726" y="1842307"/>
                </a:lnTo>
                <a:lnTo>
                  <a:pt x="1812726" y="2685849"/>
                </a:lnTo>
                <a:lnTo>
                  <a:pt x="1812726" y="5056010"/>
                </a:lnTo>
                <a:cubicBezTo>
                  <a:pt x="1812726" y="5158803"/>
                  <a:pt x="1729396" y="5242133"/>
                  <a:pt x="1626603" y="5242133"/>
                </a:cubicBezTo>
                <a:lnTo>
                  <a:pt x="198649" y="5242133"/>
                </a:lnTo>
                <a:cubicBezTo>
                  <a:pt x="95856" y="5242133"/>
                  <a:pt x="12526" y="5158803"/>
                  <a:pt x="12526" y="5056010"/>
                </a:cubicBezTo>
                <a:cubicBezTo>
                  <a:pt x="8351" y="4320236"/>
                  <a:pt x="4175" y="3584461"/>
                  <a:pt x="0" y="2848687"/>
                </a:cubicBezTo>
                <a:cubicBezTo>
                  <a:pt x="40175" y="2338496"/>
                  <a:pt x="-32831" y="2194954"/>
                  <a:pt x="253577" y="1994864"/>
                </a:cubicBezTo>
                <a:cubicBezTo>
                  <a:pt x="539985" y="1794774"/>
                  <a:pt x="738188" y="1867635"/>
                  <a:pt x="966888" y="1798458"/>
                </a:cubicBezTo>
                <a:cubicBezTo>
                  <a:pt x="1354493" y="1691732"/>
                  <a:pt x="1582191" y="1290999"/>
                  <a:pt x="1475466" y="903394"/>
                </a:cubicBezTo>
                <a:cubicBezTo>
                  <a:pt x="1368741" y="515789"/>
                  <a:pt x="968008" y="288091"/>
                  <a:pt x="580402" y="394816"/>
                </a:cubicBezTo>
                <a:lnTo>
                  <a:pt x="577217" y="395693"/>
                </a:lnTo>
                <a:lnTo>
                  <a:pt x="169398" y="395693"/>
                </a:lnTo>
                <a:cubicBezTo>
                  <a:pt x="329669" y="156462"/>
                  <a:pt x="602875" y="0"/>
                  <a:pt x="912626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36000" tIns="1260000" rIns="36000">
            <a:norm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kern="0" dirty="0">
                <a:solidFill>
                  <a:schemeClr val="bg1"/>
                </a:solidFill>
              </a:rPr>
              <a:t>并查集的集合</a:t>
            </a:r>
            <a:r>
              <a:rPr lang="zh-CN" altLang="en-US" kern="0" dirty="0">
                <a:solidFill>
                  <a:schemeClr val="bg1"/>
                </a:solidFill>
              </a:rPr>
              <a:t>合并</a:t>
            </a:r>
            <a:endParaRPr lang="zh-CN" altLang="en-US" kern="0" dirty="0">
              <a:solidFill>
                <a:schemeClr val="bg1"/>
              </a:solidFill>
            </a:endParaRPr>
          </a:p>
        </p:txBody>
      </p:sp>
      <p:sp>
        <p:nvSpPr>
          <p:cNvPr id="10" name="KSO_GN2"/>
          <p:cNvSpPr txBox="1"/>
          <p:nvPr>
            <p:custDataLst>
              <p:tags r:id="rId7"/>
            </p:custDataLst>
          </p:nvPr>
        </p:nvSpPr>
        <p:spPr>
          <a:xfrm>
            <a:off x="6489458" y="4908184"/>
            <a:ext cx="1033462" cy="683264"/>
          </a:xfrm>
          <a:prstGeom prst="rect">
            <a:avLst/>
          </a:prstGeom>
          <a:noFill/>
          <a:effectLst/>
        </p:spPr>
        <p:txBody>
          <a:bodyPr>
            <a:normAutofit fontScale="90000" lnSpcReduction="20000"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altLang="zh-CN" sz="4800" b="1" kern="0" dirty="0">
                <a:solidFill>
                  <a:schemeClr val="accent1"/>
                </a:solidFill>
              </a:rPr>
              <a:t>03</a:t>
            </a:r>
            <a:endParaRPr lang="zh-CN" altLang="en-US" sz="4800" b="1" kern="0" dirty="0">
              <a:solidFill>
                <a:schemeClr val="accent1"/>
              </a:solidFill>
            </a:endParaRPr>
          </a:p>
        </p:txBody>
      </p:sp>
      <p:sp>
        <p:nvSpPr>
          <p:cNvPr id="11" name="圆角矩形 3"/>
          <p:cNvSpPr/>
          <p:nvPr>
            <p:custDataLst>
              <p:tags r:id="rId8"/>
            </p:custDataLst>
          </p:nvPr>
        </p:nvSpPr>
        <p:spPr>
          <a:xfrm>
            <a:off x="8331080" y="2076084"/>
            <a:ext cx="969962" cy="2805112"/>
          </a:xfrm>
          <a:custGeom>
            <a:avLst/>
            <a:gdLst/>
            <a:ahLst/>
            <a:cxnLst/>
            <a:rect l="l" t="t" r="r" b="b"/>
            <a:pathLst>
              <a:path w="1812726" h="5242133">
                <a:moveTo>
                  <a:pt x="912626" y="0"/>
                </a:moveTo>
                <a:cubicBezTo>
                  <a:pt x="1409738" y="0"/>
                  <a:pt x="1812726" y="402988"/>
                  <a:pt x="1812726" y="900100"/>
                </a:cubicBezTo>
                <a:lnTo>
                  <a:pt x="1812726" y="1842307"/>
                </a:lnTo>
                <a:lnTo>
                  <a:pt x="1812726" y="2685849"/>
                </a:lnTo>
                <a:lnTo>
                  <a:pt x="1812726" y="5056010"/>
                </a:lnTo>
                <a:cubicBezTo>
                  <a:pt x="1812726" y="5158803"/>
                  <a:pt x="1729396" y="5242133"/>
                  <a:pt x="1626603" y="5242133"/>
                </a:cubicBezTo>
                <a:lnTo>
                  <a:pt x="198649" y="5242133"/>
                </a:lnTo>
                <a:cubicBezTo>
                  <a:pt x="95856" y="5242133"/>
                  <a:pt x="12526" y="5158803"/>
                  <a:pt x="12526" y="5056010"/>
                </a:cubicBezTo>
                <a:cubicBezTo>
                  <a:pt x="8351" y="4320236"/>
                  <a:pt x="4175" y="3584461"/>
                  <a:pt x="0" y="2848687"/>
                </a:cubicBezTo>
                <a:cubicBezTo>
                  <a:pt x="40175" y="2338496"/>
                  <a:pt x="-32831" y="2194954"/>
                  <a:pt x="253577" y="1994864"/>
                </a:cubicBezTo>
                <a:cubicBezTo>
                  <a:pt x="539985" y="1794774"/>
                  <a:pt x="738188" y="1867635"/>
                  <a:pt x="966888" y="1798458"/>
                </a:cubicBezTo>
                <a:cubicBezTo>
                  <a:pt x="1354493" y="1691732"/>
                  <a:pt x="1582191" y="1290999"/>
                  <a:pt x="1475466" y="903394"/>
                </a:cubicBezTo>
                <a:cubicBezTo>
                  <a:pt x="1368741" y="515789"/>
                  <a:pt x="968008" y="288091"/>
                  <a:pt x="580402" y="394816"/>
                </a:cubicBezTo>
                <a:lnTo>
                  <a:pt x="577217" y="395693"/>
                </a:lnTo>
                <a:lnTo>
                  <a:pt x="169398" y="395693"/>
                </a:lnTo>
                <a:cubicBezTo>
                  <a:pt x="329669" y="156462"/>
                  <a:pt x="602875" y="0"/>
                  <a:pt x="912626" y="0"/>
                </a:cubicBezTo>
                <a:close/>
              </a:path>
            </a:pathLst>
          </a:cu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lIns="36000" tIns="1260000" rIns="36000">
            <a:norm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kern="0" dirty="0">
                <a:solidFill>
                  <a:schemeClr val="bg1"/>
                </a:solidFill>
              </a:rPr>
              <a:t>并查集的</a:t>
            </a:r>
            <a:r>
              <a:rPr lang="zh-CN" altLang="en-US" kern="0" dirty="0">
                <a:solidFill>
                  <a:schemeClr val="bg1"/>
                </a:solidFill>
              </a:rPr>
              <a:t>操作优化</a:t>
            </a:r>
            <a:endParaRPr lang="zh-CN" altLang="en-US" kern="0" dirty="0">
              <a:solidFill>
                <a:schemeClr val="bg1"/>
              </a:solidFill>
            </a:endParaRPr>
          </a:p>
        </p:txBody>
      </p:sp>
      <p:sp>
        <p:nvSpPr>
          <p:cNvPr id="12" name="KSO_GN2"/>
          <p:cNvSpPr txBox="1"/>
          <p:nvPr>
            <p:custDataLst>
              <p:tags r:id="rId9"/>
            </p:custDataLst>
          </p:nvPr>
        </p:nvSpPr>
        <p:spPr>
          <a:xfrm>
            <a:off x="8299330" y="4908184"/>
            <a:ext cx="1033462" cy="683264"/>
          </a:xfrm>
          <a:prstGeom prst="rect">
            <a:avLst/>
          </a:prstGeom>
          <a:noFill/>
          <a:effectLst/>
        </p:spPr>
        <p:txBody>
          <a:bodyPr>
            <a:normAutofit fontScale="90000" lnSpcReduction="20000"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altLang="zh-CN" sz="4800" b="1" kern="0" dirty="0">
                <a:solidFill>
                  <a:schemeClr val="accent2"/>
                </a:solidFill>
              </a:rPr>
              <a:t>04</a:t>
            </a:r>
            <a:endParaRPr lang="zh-CN" altLang="en-US" sz="4800" b="1" kern="0" dirty="0">
              <a:solidFill>
                <a:schemeClr val="accent2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675737" y="401863"/>
            <a:ext cx="8292045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 i="0" baseline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+mj-cs"/>
              </a:defRPr>
            </a:lvl1pPr>
          </a:lstStyle>
          <a:p>
            <a:r>
              <a:rPr lang="zh-CN" altLang="en-US" dirty="0">
                <a:latin typeface="+mj-lt"/>
                <a:ea typeface="+mj-ea"/>
              </a:rPr>
              <a:t>并查集要实现的功能</a:t>
            </a:r>
            <a:endParaRPr lang="zh-CN" altLang="en-US" dirty="0">
              <a:latin typeface="+mj-lt"/>
              <a:ea typeface="+mj-ea"/>
            </a:endParaRPr>
          </a:p>
        </p:txBody>
      </p:sp>
    </p:spTree>
    <p:custDataLst>
      <p:tags r:id="rId11"/>
    </p:custData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2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8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2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17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8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2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8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27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8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2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8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3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8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4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1" grpId="1" animBg="1"/>
      <p:bldP spid="9" grpId="0" animBg="1"/>
      <p:bldP spid="23" grpId="1" animBg="1"/>
      <p:bldP spid="11" grpId="0" animBg="1"/>
      <p:bldP spid="9" grpId="1" animBg="1"/>
      <p:bldP spid="11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926400" y="633735"/>
            <a:ext cx="4165200" cy="1602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2-1 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并查集的初始化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26400" y="2235735"/>
            <a:ext cx="4165200" cy="3812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对于并查集，我们需要一个数组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f[]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来判断元素所属的集合。这里的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f[i]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存储的就是第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个元素所在的集合，每个集合的父亲节点就是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f[i]=i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的一个节点。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一开始，每个元素都是一个独立的集合，所以用循环初始化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f[i]=i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en-US" altLang="zh-CN" sz="2000" dirty="0"/>
              <a:t>	</a:t>
            </a:r>
            <a:endParaRPr lang="en-US" altLang="zh-CN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505" y="3070860"/>
            <a:ext cx="5349240" cy="7162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926400" y="633735"/>
            <a:ext cx="4165200" cy="1602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2-2 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并查集的集合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查找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26400" y="2235735"/>
            <a:ext cx="4165200" cy="3812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查找一个元素所在的集合，就是查找这个元素所在的树的根节点。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根节点的元素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，父亲节点就是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f[i]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所以我们建立递归函数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fd(x),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如果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x==f[x]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就返回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的值，否则返回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fd(f[x]).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这样就完成了查找元素所在集合的功能。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430" y="2356485"/>
            <a:ext cx="5913755" cy="23260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926400" y="633735"/>
            <a:ext cx="4165200" cy="1602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2-3 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并查集的集合合并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26400" y="2235735"/>
            <a:ext cx="4165200" cy="3812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合并两个集合，就是让这两个集合有共同的父亲节点。在合并两个节点之前，我们要先找到两个集合的父亲节点的编号，然后把两个集合父亲节点的编号改成相同的，集合的合并就完成了。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430" y="2821305"/>
            <a:ext cx="6206490" cy="12160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926400" y="633735"/>
            <a:ext cx="4165200" cy="1602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2-4 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并查集的操作优化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26465" y="2235835"/>
            <a:ext cx="4164965" cy="44615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首先我们来想一个问题：如果对同一个元素询问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100000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次这个元素的父亲节点编号，即调用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100000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次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fd(x)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函数会怎么样？答案是肯定的：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TLE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那么如何解决这个问题呢？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其实只要把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return fd(f[x])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改为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return f[x]=fd(f[x]);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即可，这样每次只要递归一次就能找到父亲节点，对时间复制度进行了优化。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430" y="2235835"/>
            <a:ext cx="5570220" cy="27355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>
    <p:wipe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60000" y="255735"/>
            <a:ext cx="9082800" cy="939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altLang="zh-CN" sz="3200" dirty="0">
                <a:latin typeface="+mj-lt"/>
                <a:ea typeface="+mj-ea"/>
                <a:cs typeface="+mj-cs"/>
              </a:rPr>
              <a:t>2-5 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上机实践刚才讲的并查集代码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560000" y="5890824"/>
            <a:ext cx="9082800" cy="5976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2400" dirty="0"/>
              <a:t>洛谷的并查集模板题，</a:t>
            </a:r>
            <a:r>
              <a:rPr lang="zh-CN" altLang="en-US" sz="2400" dirty="0">
                <a:hlinkClick r:id="rId3" action="ppaction://hlinkfile"/>
              </a:rPr>
              <a:t>点这里前往评测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195" y="1195705"/>
            <a:ext cx="6126480" cy="43281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6675" y="1195705"/>
            <a:ext cx="4055745" cy="30416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686675" y="4237355"/>
            <a:ext cx="40697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注意数据规模。制作人亲自尝试，不写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2-4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的优化只能有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70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分！</a:t>
            </a:r>
            <a:endParaRPr lang="zh-CN" altLang="en-US" sz="2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  <p:transition>
    <p:wheel spokes="2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173855" y="2399030"/>
            <a:ext cx="4826635" cy="62166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+mj-lt"/>
                <a:ea typeface="+mj-ea"/>
              </a:rPr>
              <a:t>并查集相关例题</a:t>
            </a:r>
            <a:r>
              <a:rPr lang="en-US" altLang="zh-CN" dirty="0">
                <a:latin typeface="+mj-lt"/>
                <a:ea typeface="+mj-ea"/>
              </a:rPr>
              <a:t>——</a:t>
            </a:r>
            <a:r>
              <a:rPr lang="zh-CN" altLang="en-US" dirty="0">
                <a:latin typeface="+mj-lt"/>
                <a:ea typeface="+mj-ea"/>
              </a:rPr>
              <a:t>图的最小生成树</a:t>
            </a:r>
            <a:endParaRPr lang="zh-CN" altLang="en-US" dirty="0">
              <a:latin typeface="+mj-lt"/>
              <a:ea typeface="+mj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</a:rPr>
              <a:t>讲解最小生成树的概念及</a:t>
            </a:r>
            <a:r>
              <a:rPr lang="en-US" altLang="zh-CN" dirty="0">
                <a:latin typeface="+mn-lt"/>
                <a:ea typeface="+mn-ea"/>
              </a:rPr>
              <a:t>Kruskal</a:t>
            </a:r>
            <a:r>
              <a:rPr lang="zh-CN" altLang="en-US" dirty="0">
                <a:latin typeface="+mn-lt"/>
                <a:ea typeface="+mn-ea"/>
              </a:rPr>
              <a:t>算法</a:t>
            </a:r>
            <a:endParaRPr lang="zh-CN" altLang="en-US" dirty="0">
              <a:latin typeface="+mn-lt"/>
              <a:ea typeface="+mn-ea"/>
            </a:endParaRPr>
          </a:p>
          <a:p>
            <a:r>
              <a:rPr lang="zh-CN" altLang="en-US" dirty="0">
                <a:latin typeface="+mn-lt"/>
                <a:ea typeface="+mn-ea"/>
              </a:rPr>
              <a:t>完成最小生成树模板题</a:t>
            </a:r>
            <a:endParaRPr lang="zh-CN" altLang="en-US" dirty="0">
              <a:latin typeface="+mn-lt"/>
              <a:ea typeface="+mn-ea"/>
            </a:endParaRPr>
          </a:p>
        </p:txBody>
      </p:sp>
    </p:spTree>
    <p:custDataLst>
      <p:tags r:id="rId3"/>
    </p:custDataLst>
  </p:cSld>
  <p:clrMapOvr>
    <a:masterClrMapping/>
  </p:clrMapOvr>
  <p:transition>
    <p:zoom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60000" y="255735"/>
            <a:ext cx="9082800" cy="939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altLang="zh-CN" sz="3200" dirty="0">
                <a:latin typeface="+mj-lt"/>
                <a:ea typeface="+mj-ea"/>
                <a:cs typeface="+mj-cs"/>
              </a:rPr>
              <a:t>3-0 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题目描述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560195" y="5890895"/>
            <a:ext cx="9596755" cy="59753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altLang="en-US" dirty="0">
                <a:hlinkClick r:id="rId3" action="ppaction://hlinkfile"/>
              </a:rPr>
              <a:t>点这里前往洛谷评测代码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可能有人不知道什么是最小生成树或者不知道怎么求最小生成树，如果是，请往下看</a:t>
            </a:r>
            <a:r>
              <a:rPr lang="en-US" altLang="zh-CN" dirty="0"/>
              <a:t>PPT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195" y="1115695"/>
            <a:ext cx="5683250" cy="46272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plus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直接连接符 70"/>
          <p:cNvCxnSpPr/>
          <p:nvPr>
            <p:custDataLst>
              <p:tags r:id="rId1"/>
            </p:custDataLst>
          </p:nvPr>
        </p:nvCxnSpPr>
        <p:spPr>
          <a:xfrm>
            <a:off x="2436770" y="1371540"/>
            <a:ext cx="73184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zh-CN" b="1" dirty="0">
                <a:latin typeface="+mj-lt"/>
                <a:ea typeface="+mj-ea"/>
              </a:rPr>
              <a:t>3-1 </a:t>
            </a:r>
            <a:r>
              <a:rPr lang="zh-CN" altLang="en-US" b="1" dirty="0">
                <a:latin typeface="+mj-lt"/>
                <a:ea typeface="+mj-ea"/>
              </a:rPr>
              <a:t>最小生成树相关概念</a:t>
            </a:r>
            <a:endParaRPr lang="zh-CN" altLang="en-US" b="1" dirty="0">
              <a:latin typeface="+mj-lt"/>
              <a:ea typeface="+mj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生成树：给定无向图G，从中选出N-1条边，使N个点连成一个联通快。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最小生成树：给定无向图G，边上带权，在这些边中选出N-1条，将N个点连在一起，并且，这N-1条边的边权总和是所有生成树方案中最小的。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问题常见描述：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</a:rPr>
              <a:t>“如何用最小的代价，用N-1条边使N个点之间能互相到达”</a:t>
            </a:r>
            <a:endParaRPr lang="en-US" altLang="zh-CN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实现算法：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</a:rPr>
              <a:t>Prim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（类似于最短路中的Dijkstra）、Kruskal（要用并查集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）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算法思想：贪心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下面将介绍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</a:rPr>
              <a:t>Kruskal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算法的实现过程，想了解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</a:rPr>
              <a:t>Prim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算法的可以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hlinkClick r:id="rId4" action="ppaction://hlinkfile"/>
              </a:rPr>
              <a:t>点这里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。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5"/>
    </p:custData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直接连接符 70"/>
          <p:cNvCxnSpPr/>
          <p:nvPr>
            <p:custDataLst>
              <p:tags r:id="rId1"/>
            </p:custDataLst>
          </p:nvPr>
        </p:nvCxnSpPr>
        <p:spPr>
          <a:xfrm>
            <a:off x="2436770" y="1371540"/>
            <a:ext cx="73184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zh-CN" b="1" dirty="0">
                <a:latin typeface="+mj-lt"/>
                <a:ea typeface="+mj-ea"/>
                <a:sym typeface="+mn-ea"/>
              </a:rPr>
              <a:t>3-2 Kruscal</a:t>
            </a:r>
            <a:r>
              <a:rPr lang="zh-CN" altLang="en-US" b="1" dirty="0">
                <a:latin typeface="+mj-lt"/>
                <a:ea typeface="+mj-ea"/>
                <a:sym typeface="+mn-ea"/>
              </a:rPr>
              <a:t>算法实现流程</a:t>
            </a:r>
            <a:endParaRPr lang="zh-CN" altLang="en-US" b="1" dirty="0">
              <a:latin typeface="+mj-lt"/>
              <a:ea typeface="+mj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把边按边权从小到大排序；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选出边权最小的边，判断这条边所连的两个点是否已连通；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如果未连通，就使用这条边，并把所连的点标记为联通，否则舍弃这条边；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重复执行第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步与第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步，直到使用了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n-1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条边或边用完为止；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如果图不连通，则选的边数量无法达到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n-1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如果要计算最小生成树的边权总和，只要在第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步中把使用的边的边权的和统计到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sum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中，最后输出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sum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即可。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 decel="100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926400" y="697235"/>
            <a:ext cx="4165200" cy="1602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3-3 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并查集在</a:t>
            </a:r>
            <a:r>
              <a:rPr lang="en-US" altLang="zh-CN" sz="3200" dirty="0">
                <a:latin typeface="+mj-lt"/>
                <a:ea typeface="+mj-ea"/>
                <a:cs typeface="+mj-cs"/>
              </a:rPr>
              <a:t>Kruscal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中的应用及代码实现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26400" y="2235735"/>
            <a:ext cx="4165200" cy="3812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看了刚才的实现流程，我们不难发现流程中的一个难点：如何判断两个点是连通的？这就要用到并查集了。我们查找两个点是否所在同一个集合，如果不在同一个集合，就合并这两个点并统计边权。这样，最小生成树的模板题就解决了。（部分代码如右图</a:t>
            </a:r>
            <a:r>
              <a:rPr lang="zh-CN" altLang="en-US" sz="2000" dirty="0"/>
              <a:t>）</a:t>
            </a:r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430" y="2235835"/>
            <a:ext cx="6309360" cy="31502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>
    <p:checke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5"/>
          <p:cNvSpPr txBox="1"/>
          <p:nvPr>
            <p:custDataLst>
              <p:tags r:id="rId1"/>
            </p:custDataLst>
          </p:nvPr>
        </p:nvSpPr>
        <p:spPr>
          <a:xfrm rot="930675">
            <a:off x="7675447" y="663375"/>
            <a:ext cx="3742865" cy="894565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defPPr>
              <a:defRPr lang="zh-CN"/>
            </a:defPPr>
            <a:lvl1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lvl1pPr>
          </a:lstStyle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3-4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并查集的其它练习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矩形 27"/>
          <p:cNvSpPr/>
          <p:nvPr>
            <p:custDataLst>
              <p:tags r:id="rId2"/>
            </p:custDataLst>
          </p:nvPr>
        </p:nvSpPr>
        <p:spPr>
          <a:xfrm rot="930675">
            <a:off x="7392670" y="1516380"/>
            <a:ext cx="4502785" cy="74549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T1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为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纯粹的并查集题目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T2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为纯粹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最小生成树问题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351915" y="1640205"/>
            <a:ext cx="3212465" cy="2296795"/>
          </a:xfrm>
          <a:prstGeom prst="rect">
            <a:avLst/>
          </a:prstGeom>
          <a:noFill/>
        </p:spPr>
        <p:txBody>
          <a:bodyPr lIns="0" rIns="0">
            <a:norm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dirty="0"/>
              <a:t>	</a:t>
            </a:r>
            <a:r>
              <a:rPr lang="zh-CN" altLang="en-US" dirty="0"/>
              <a:t>这里推荐两题比较水的并查集题目，大家可以去试试。【真的很水，不骗你</a:t>
            </a:r>
            <a:r>
              <a:rPr lang="zh-CN" altLang="en-US" dirty="0"/>
              <a:t>】</a:t>
            </a:r>
            <a:endParaRPr lang="zh-CN" altLang="en-US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dirty="0">
                <a:hlinkClick r:id="rId4" action="ppaction://hlinkfile"/>
              </a:rPr>
              <a:t>T1</a:t>
            </a:r>
            <a:r>
              <a:rPr lang="zh-CN" altLang="en-US" dirty="0">
                <a:hlinkClick r:id="rId4" action="ppaction://hlinkfile"/>
              </a:rPr>
              <a:t>点这里</a:t>
            </a:r>
            <a:endParaRPr lang="zh-CN" altLang="en-US" dirty="0">
              <a:hlinkClick r:id="rId4" action="ppaction://hlinkfile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dirty="0">
                <a:hlinkClick r:id="rId5" action="ppaction://hlinkfile"/>
              </a:rPr>
              <a:t>T2</a:t>
            </a:r>
            <a:r>
              <a:rPr lang="zh-CN" altLang="en-US" dirty="0">
                <a:hlinkClick r:id="rId5" action="ppaction://hlinkfile"/>
              </a:rPr>
              <a:t>点这里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">
            <a:off x="4975860" y="1762125"/>
            <a:ext cx="6028690" cy="396049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040000">
            <a:off x="2849880" y="3514725"/>
            <a:ext cx="3653790" cy="270065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>
    <p:newsfla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r>
              <a:rPr lang="en-US" altLang="zh-CN" sz="5400" smtClean="0">
                <a:latin typeface="+mj-lt"/>
                <a:ea typeface="+mj-ea"/>
              </a:rPr>
              <a:t>THANK YOU</a:t>
            </a:r>
            <a:endParaRPr lang="en-US" altLang="zh-CN" sz="5400" smtClean="0">
              <a:latin typeface="+mj-lt"/>
              <a:ea typeface="+mj-ea"/>
            </a:endParaRPr>
          </a:p>
        </p:txBody>
      </p:sp>
      <p:sp>
        <p:nvSpPr>
          <p:cNvPr id="6" name="PA_文本框 6"/>
          <p:cNvSpPr txBox="1"/>
          <p:nvPr>
            <p:custDataLst>
              <p:tags r:id="rId2"/>
            </p:custDataLst>
          </p:nvPr>
        </p:nvSpPr>
        <p:spPr>
          <a:xfrm>
            <a:off x="1957413" y="1858188"/>
            <a:ext cx="7702846" cy="317645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>
                <a:solidFill>
                  <a:srgbClr val="FF0000"/>
                </a:solidFill>
              </a14:hiddenLine>
            </a:ext>
          </a:extLst>
        </p:spPr>
        <p:txBody>
          <a:bodyPr vert="horz" wrap="squar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-1200" normalizeH="0" baseline="0" noProof="0" dirty="0">
                <a:ln>
                  <a:noFill/>
                </a:ln>
                <a:blipFill dpi="0" rotWithShape="1">
                  <a:blip r:embed="rId3"/>
                  <a:srcRect/>
                  <a:stretch>
                    <a:fillRect/>
                  </a:stretch>
                </a:blip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+mn-cs"/>
              </a:rPr>
              <a:t>__________</a:t>
            </a:r>
            <a:endParaRPr kumimoji="0" lang="zh-CN" altLang="en-US" sz="1800" b="0" i="0" u="none" strike="noStrike" kern="1200" cap="none" spc="-1200" normalizeH="0" baseline="0" noProof="0" dirty="0">
              <a:ln>
                <a:noFill/>
              </a:ln>
              <a:blipFill dpi="0" rotWithShape="1">
                <a:blip r:embed="rId3"/>
                <a:srcRect/>
                <a:stretch>
                  <a:fillRect/>
                </a:stretch>
              </a:blip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+mn-cs"/>
            </a:endParaRPr>
          </a:p>
        </p:txBody>
      </p:sp>
    </p:spTree>
    <p:custDataLst>
      <p:tags r:id="rId4"/>
    </p:custData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ppt_h/1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0" presetClass="entr" presetSubtype="0" fill="hold" grpId="0" nodeType="withEffect">
                                  <p:stCondLst>
                                    <p:cond delay="27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*sin(rand(360))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*sin(rand(360))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300000" y="300000"/>
                                    </p:animScale>
                                    <p:animEffect transition="out" filter="fade">
                                      <p:cBhvr>
                                        <p:cTn id="13"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7308"/>
  <p:tag name="KSO_WM_TEMPLATE_THUMBS_INDEX" val="1、2、3、6、8、10、11、12、15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160393"/>
</p:tagLst>
</file>

<file path=ppt/tags/tag5.xml><?xml version="1.0" encoding="utf-8"?>
<p:tagLst xmlns:p="http://schemas.openxmlformats.org/presentationml/2006/main">
  <p:tag name="KSO_WM_TAG_VERSION" val="1.0"/>
  <p:tag name="KSO_WM_TEMPLATE_CATEGORY" val="custom"/>
  <p:tag name="KSO_WM_TEMPLATE_INDEX" val="160393"/>
</p:tagLst>
</file>

<file path=ppt/tags/tag6.xml><?xml version="1.0" encoding="utf-8"?>
<p:tagLst xmlns:p="http://schemas.openxmlformats.org/presentationml/2006/main">
  <p:tag name="KSO_WM_TEMPLATE_THUMBS_INDEX" val="1、9、12、15、16、20、25、29、33"/>
  <p:tag name="KSO_WM_TEMPLATE_CATEGORY" val="custom"/>
  <p:tag name="KSO_WM_TEMPLATE_INDEX" val="160393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i"/>
  <p:tag name="KSO_WM_UNIT_INDEX" val="1_1"/>
  <p:tag name="KSO_WM_UNIT_ID" val="custom160393_8*l_i*1_1"/>
  <p:tag name="KSO_WM_UNIT_CLEAR" val="1"/>
  <p:tag name="KSO_WM_UNIT_LAYERLEVEL" val="1_1"/>
  <p:tag name="KSO_WM_DIAGRAM_GROUP_CODE" val="l1-1"/>
  <p:tag name="KSO_WM_UNIT_TEXT_FILL_FORE_SCHEMECOLOR_INDEX" val="14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8*a*1"/>
  <p:tag name="KSO_WM_UNIT_CLEAR" val="1"/>
  <p:tag name="KSO_WM_UNIT_LAYERLEVEL" val="1"/>
  <p:tag name="KSO_WM_UNIT_VALUE" val="16"/>
  <p:tag name="KSO_WM_UNIT_ISCONTENTSTITLE" val="1"/>
  <p:tag name="KSO_WM_UNIT_HIGHLIGHT" val="0"/>
  <p:tag name="KSO_WM_UNIT_COMPATIBLE" val="0"/>
  <p:tag name="KSO_WM_UNIT_PRESET_TEXT" val="CONTENTS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i"/>
  <p:tag name="KSO_WM_UNIT_INDEX" val="1_2"/>
  <p:tag name="KSO_WM_UNIT_ID" val="custom160393_8*l_i*1_2"/>
  <p:tag name="KSO_WM_UNIT_CLEAR" val="1"/>
  <p:tag name="KSO_WM_UNIT_LAYERLEVEL" val="1_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h_f"/>
  <p:tag name="KSO_WM_UNIT_INDEX" val="1_1_1"/>
  <p:tag name="KSO_WM_UNIT_ID" val="custom160393_8*l_h_f*1_1_1"/>
  <p:tag name="KSO_WM_UNIT_CLEAR" val="1"/>
  <p:tag name="KSO_WM_UNIT_LAYERLEVEL" val="1_1_1"/>
  <p:tag name="KSO_WM_UNIT_VALUE" val="18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i"/>
  <p:tag name="KSO_WM_UNIT_INDEX" val="1_3"/>
  <p:tag name="KSO_WM_UNIT_ID" val="custom160393_8*l_i*1_3"/>
  <p:tag name="KSO_WM_UNIT_CLEAR" val="1"/>
  <p:tag name="KSO_WM_UNIT_LAYERLEVEL" val="1_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h_f"/>
  <p:tag name="KSO_WM_UNIT_INDEX" val="1_2_1"/>
  <p:tag name="KSO_WM_UNIT_ID" val="custom160393_8*l_h_f*1_2_1"/>
  <p:tag name="KSO_WM_UNIT_CLEAR" val="1"/>
  <p:tag name="KSO_WM_UNIT_LAYERLEVEL" val="1_1_1"/>
  <p:tag name="KSO_WM_UNIT_VALUE" val="18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i"/>
  <p:tag name="KSO_WM_UNIT_INDEX" val="1_4"/>
  <p:tag name="KSO_WM_UNIT_ID" val="custom160393_8*l_i*1_4"/>
  <p:tag name="KSO_WM_UNIT_CLEAR" val="1"/>
  <p:tag name="KSO_WM_UNIT_LAYERLEVEL" val="1_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h_f"/>
  <p:tag name="KSO_WM_UNIT_INDEX" val="1_3_1"/>
  <p:tag name="KSO_WM_UNIT_ID" val="custom160393_8*l_h_f*1_3_1"/>
  <p:tag name="KSO_WM_UNIT_CLEAR" val="1"/>
  <p:tag name="KSO_WM_UNIT_LAYERLEVEL" val="1_1_1"/>
  <p:tag name="KSO_WM_UNIT_VALUE" val="18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8"/>
  <p:tag name="KSO_WM_SLIDE_INDEX" val="8"/>
  <p:tag name="KSO_WM_SLIDE_ITEM_CNT" val="3"/>
  <p:tag name="KSO_WM_SLIDE_LAYOUT" val="a_l"/>
  <p:tag name="KSO_WM_SLIDE_LAYOUT_CNT" val="1_1"/>
  <p:tag name="KSO_WM_SLIDE_TYPE" val="contents"/>
  <p:tag name="KSO_WM_BEAUTIFY_FLAG" val="#wm#"/>
  <p:tag name="KSO_WM_DIAGRAM_GROUP_CODE" val="l1-1"/>
  <p:tag name="KSO_WM_SLIDE_ANIMATION_ID" val="3110620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12*a*1"/>
  <p:tag name="KSO_WM_UNIT_CLEAR" val="1"/>
  <p:tag name="KSO_WM_UNIT_LAYERLEVEL" val="1"/>
  <p:tag name="KSO_WM_UNIT_VALUE" val="17"/>
  <p:tag name="KSO_WM_UNIT_ISCONTENTSTITLE" val="0"/>
  <p:tag name="KSO_WM_UNIT_HIGHLIGHT" val="0"/>
  <p:tag name="KSO_WM_UNIT_COMPATIBLE" val="0"/>
  <p:tag name="KSO_WM_UNIT_PRESET_TEXT_INDEX" val="3"/>
  <p:tag name="KSO_WM_UNIT_PRESET_TEXT_LEN" val="11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b"/>
  <p:tag name="KSO_WM_UNIT_INDEX" val="1"/>
  <p:tag name="KSO_WM_UNIT_ID" val="custom160393_12*b*1"/>
  <p:tag name="KSO_WM_UNIT_CLEAR" val="1"/>
  <p:tag name="KSO_WM_UNIT_LAYERLEVEL" val="1"/>
  <p:tag name="KSO_WM_UNIT_VALUE" val="52"/>
  <p:tag name="KSO_WM_UNIT_ISCONTENTSTITLE" val="0"/>
  <p:tag name="KSO_WM_UNIT_HIGHLIGHT" val="0"/>
  <p:tag name="KSO_WM_UNIT_COMPATIBLE" val="0"/>
  <p:tag name="KSO_WM_UNIT_PRESET_TEXT_INDEX" val="4"/>
  <p:tag name="KSO_WM_UNIT_PRESET_TEXT_LEN" val="57"/>
</p:tagLst>
</file>

<file path=ppt/tags/tag18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393_2*i*0"/>
  <p:tag name="KSO_WM_TEMPLATE_CATEGORY" val="custom"/>
  <p:tag name="KSO_WM_TEMPLATE_INDEX" val="160393"/>
  <p:tag name="KSO_WM_UNIT_INDEX" val="0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2*a*1"/>
  <p:tag name="KSO_WM_UNIT_CLEAR" val="1"/>
  <p:tag name="KSO_WM_UNIT_LAYERLEVEL" val="1"/>
  <p:tag name="KSO_WM_UNIT_VALUE" val="5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f"/>
  <p:tag name="KSO_WM_UNIT_INDEX" val="1"/>
  <p:tag name="KSO_WM_UNIT_ID" val="custom160393_2*f*1"/>
  <p:tag name="KSO_WM_UNIT_CLEAR" val="1"/>
  <p:tag name="KSO_WM_UNIT_LAYERLEVEL" val="1"/>
  <p:tag name="KSO_WM_UNIT_VALUE" val="400"/>
  <p:tag name="KSO_WM_UNIT_HIGHLIGHT" val="0"/>
  <p:tag name="KSO_WM_UNIT_COMPATIBLE" val="0"/>
  <p:tag name="KSO_WM_UNIT_PRESET_TEXT_INDEX" val="5"/>
  <p:tag name="KSO_WM_UNIT_PRESET_TEXT_LEN" val="232"/>
</p:tagLst>
</file>

<file path=ppt/tags/tag22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17"/>
  <p:tag name="KSO_WM_SLIDE_SIZE" val="828*369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393_2*i*0"/>
  <p:tag name="KSO_WM_TEMPLATE_CATEGORY" val="custom"/>
  <p:tag name="KSO_WM_TEMPLATE_INDEX" val="160393"/>
  <p:tag name="KSO_WM_UNIT_INDEX" val="0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2*a*1"/>
  <p:tag name="KSO_WM_UNIT_CLEAR" val="1"/>
  <p:tag name="KSO_WM_UNIT_LAYERLEVEL" val="1"/>
  <p:tag name="KSO_WM_UNIT_VALUE" val="5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f"/>
  <p:tag name="KSO_WM_UNIT_INDEX" val="1"/>
  <p:tag name="KSO_WM_UNIT_ID" val="custom160393_2*f*1"/>
  <p:tag name="KSO_WM_UNIT_CLEAR" val="1"/>
  <p:tag name="KSO_WM_UNIT_LAYERLEVEL" val="1"/>
  <p:tag name="KSO_WM_UNIT_VALUE" val="400"/>
  <p:tag name="KSO_WM_UNIT_HIGHLIGHT" val="0"/>
  <p:tag name="KSO_WM_UNIT_COMPATIBLE" val="0"/>
  <p:tag name="KSO_WM_UNIT_PRESET_TEXT_INDEX" val="5"/>
  <p:tag name="KSO_WM_UNIT_PRESET_TEXT_LEN" val="232"/>
</p:tagLst>
</file>

<file path=ppt/tags/tag26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17"/>
  <p:tag name="KSO_WM_SLIDE_SIZE" val="828*369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12*a*1"/>
  <p:tag name="KSO_WM_UNIT_CLEAR" val="1"/>
  <p:tag name="KSO_WM_UNIT_LAYERLEVEL" val="1"/>
  <p:tag name="KSO_WM_UNIT_VALUE" val="17"/>
  <p:tag name="KSO_WM_UNIT_ISCONTENTSTITLE" val="0"/>
  <p:tag name="KSO_WM_UNIT_HIGHLIGHT" val="0"/>
  <p:tag name="KSO_WM_UNIT_COMPATIBLE" val="0"/>
  <p:tag name="KSO_WM_UNIT_PRESET_TEXT_INDEX" val="3"/>
  <p:tag name="KSO_WM_UNIT_PRESET_TEXT_LEN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b"/>
  <p:tag name="KSO_WM_UNIT_INDEX" val="1"/>
  <p:tag name="KSO_WM_UNIT_ID" val="custom160393_12*b*1"/>
  <p:tag name="KSO_WM_UNIT_CLEAR" val="1"/>
  <p:tag name="KSO_WM_UNIT_LAYERLEVEL" val="1"/>
  <p:tag name="KSO_WM_UNIT_VALUE" val="52"/>
  <p:tag name="KSO_WM_UNIT_ISCONTENTSTITLE" val="0"/>
  <p:tag name="KSO_WM_UNIT_HIGHLIGHT" val="0"/>
  <p:tag name="KSO_WM_UNIT_COMPATIBLE" val="0"/>
  <p:tag name="KSO_WM_UNIT_PRESET_TEXT_INDEX" val="4"/>
  <p:tag name="KSO_WM_UNIT_PRESET_TEXT_LEN" val="57"/>
</p:tagLst>
</file>

<file path=ppt/tags/tag29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i"/>
  <p:tag name="KSO_WM_UNIT_INDEX" val="1_1"/>
  <p:tag name="KSO_WM_UNIT_ID" val="custom160393_20*l_i*1_1"/>
  <p:tag name="KSO_WM_UNIT_CLEAR" val="1"/>
  <p:tag name="KSO_WM_UNIT_LAYERLEVEL" val="1_1"/>
  <p:tag name="KSO_WM_DIAGRAM_GROUP_CODE" val="l1-2"/>
  <p:tag name="KSO_WM_UNIT_LINE_FORE_SCHEMECOLOR_INDEX" val="14"/>
  <p:tag name="KSO_WM_UNIT_LINE_FILL_TYPE" val="2"/>
  <p:tag name="KSO_WM_UNIT_USESOURCEFORMAT_APPLY" val="1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h_f"/>
  <p:tag name="KSO_WM_UNIT_INDEX" val="1_1_1"/>
  <p:tag name="KSO_WM_UNIT_ID" val="custom160393_20*l_h_f*1_1_1"/>
  <p:tag name="KSO_WM_UNIT_CLEAR" val="1"/>
  <p:tag name="KSO_WM_UNIT_LAYERLEVEL" val="1_1_1"/>
  <p:tag name="KSO_WM_UNIT_VALUE" val="12"/>
  <p:tag name="KSO_WM_UNIT_HIGHLIGHT" val="0"/>
  <p:tag name="KSO_WM_UNIT_COMPATIBLE" val="0"/>
  <p:tag name="KSO_WM_UNIT_PRESET_TEXT_INDEX" val="3"/>
  <p:tag name="KSO_WM_UNIT_PRESET_TEXT_LEN" val="17"/>
  <p:tag name="KSO_WM_DIAGRAM_GROUP_CODE" val="l1-2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i"/>
  <p:tag name="KSO_WM_UNIT_INDEX" val="1_2"/>
  <p:tag name="KSO_WM_UNIT_ID" val="custom160393_20*l_i*1_2"/>
  <p:tag name="KSO_WM_UNIT_CLEAR" val="1"/>
  <p:tag name="KSO_WM_UNIT_LAYERLEVEL" val="1_1"/>
  <p:tag name="KSO_WM_DIAGRAM_GROUP_CODE" val="l1-2"/>
  <p:tag name="KSO_WM_UNIT_TEXT_FILL_FORE_SCHEMECOLOR_INDEX" val="5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h_f"/>
  <p:tag name="KSO_WM_UNIT_INDEX" val="1_2_1"/>
  <p:tag name="KSO_WM_UNIT_ID" val="custom160393_20*l_h_f*1_2_1"/>
  <p:tag name="KSO_WM_UNIT_CLEAR" val="1"/>
  <p:tag name="KSO_WM_UNIT_LAYERLEVEL" val="1_1_1"/>
  <p:tag name="KSO_WM_UNIT_VALUE" val="12"/>
  <p:tag name="KSO_WM_UNIT_HIGHLIGHT" val="0"/>
  <p:tag name="KSO_WM_UNIT_COMPATIBLE" val="0"/>
  <p:tag name="KSO_WM_UNIT_PRESET_TEXT_INDEX" val="3"/>
  <p:tag name="KSO_WM_UNIT_PRESET_TEXT_LEN" val="17"/>
  <p:tag name="KSO_WM_DIAGRAM_GROUP_CODE" val="l1-2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i"/>
  <p:tag name="KSO_WM_UNIT_INDEX" val="1_3"/>
  <p:tag name="KSO_WM_UNIT_ID" val="custom160393_20*l_i*1_3"/>
  <p:tag name="KSO_WM_UNIT_CLEAR" val="1"/>
  <p:tag name="KSO_WM_UNIT_LAYERLEVEL" val="1_1"/>
  <p:tag name="KSO_WM_DIAGRAM_GROUP_CODE" val="l1-2"/>
  <p:tag name="KSO_WM_UNIT_TEXT_FILL_FORE_SCHEMECOLOR_INDEX" val="6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h_f"/>
  <p:tag name="KSO_WM_UNIT_INDEX" val="1_3_1"/>
  <p:tag name="KSO_WM_UNIT_ID" val="custom160393_20*l_h_f*1_3_1"/>
  <p:tag name="KSO_WM_UNIT_CLEAR" val="1"/>
  <p:tag name="KSO_WM_UNIT_LAYERLEVEL" val="1_1_1"/>
  <p:tag name="KSO_WM_UNIT_VALUE" val="12"/>
  <p:tag name="KSO_WM_UNIT_HIGHLIGHT" val="0"/>
  <p:tag name="KSO_WM_UNIT_COMPATIBLE" val="0"/>
  <p:tag name="KSO_WM_UNIT_PRESET_TEXT_INDEX" val="3"/>
  <p:tag name="KSO_WM_UNIT_PRESET_TEXT_LEN" val="17"/>
  <p:tag name="KSO_WM_DIAGRAM_GROUP_CODE" val="l1-2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i"/>
  <p:tag name="KSO_WM_UNIT_INDEX" val="1_4"/>
  <p:tag name="KSO_WM_UNIT_ID" val="custom160393_20*l_i*1_4"/>
  <p:tag name="KSO_WM_UNIT_CLEAR" val="1"/>
  <p:tag name="KSO_WM_UNIT_LAYERLEVEL" val="1_1"/>
  <p:tag name="KSO_WM_DIAGRAM_GROUP_CODE" val="l1-2"/>
  <p:tag name="KSO_WM_UNIT_TEXT_FILL_FORE_SCHEMECOLOR_INDEX" val="5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h_f"/>
  <p:tag name="KSO_WM_UNIT_INDEX" val="1_4_1"/>
  <p:tag name="KSO_WM_UNIT_ID" val="custom160393_20*l_h_f*1_4_1"/>
  <p:tag name="KSO_WM_UNIT_CLEAR" val="1"/>
  <p:tag name="KSO_WM_UNIT_LAYERLEVEL" val="1_1_1"/>
  <p:tag name="KSO_WM_UNIT_VALUE" val="12"/>
  <p:tag name="KSO_WM_UNIT_HIGHLIGHT" val="0"/>
  <p:tag name="KSO_WM_UNIT_COMPATIBLE" val="0"/>
  <p:tag name="KSO_WM_UNIT_PRESET_TEXT_INDEX" val="3"/>
  <p:tag name="KSO_WM_UNIT_PRESET_TEXT_LEN" val="17"/>
  <p:tag name="KSO_WM_DIAGRAM_GROUP_CODE" val="l1-2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l_i"/>
  <p:tag name="KSO_WM_UNIT_INDEX" val="1_5"/>
  <p:tag name="KSO_WM_UNIT_ID" val="custom160393_20*l_i*1_5"/>
  <p:tag name="KSO_WM_UNIT_CLEAR" val="1"/>
  <p:tag name="KSO_WM_UNIT_LAYERLEVEL" val="1_1"/>
  <p:tag name="KSO_WM_DIAGRAM_GROUP_CODE" val="l1-2"/>
  <p:tag name="KSO_WM_UNIT_TEXT_FILL_FORE_SCHEMECOLOR_INDEX" val="6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20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0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20"/>
  <p:tag name="KSO_WM_SLIDE_INDEX" val="20"/>
  <p:tag name="KSO_WM_SLIDE_ITEM_CNT" val="4"/>
  <p:tag name="KSO_WM_SLIDE_LAYOUT" val="a_l"/>
  <p:tag name="KSO_WM_SLIDE_LAYOUT_CNT" val="1_1"/>
  <p:tag name="KSO_WM_SLIDE_TYPE" val="text"/>
  <p:tag name="KSO_WM_BEAUTIFY_FLAG" val="#wm#"/>
  <p:tag name="KSO_WM_SLIDE_POSITION" val="179*163"/>
  <p:tag name="KSO_WM_SLIDE_SIZE" val="598*277"/>
  <p:tag name="KSO_WM_DIAGRAM_GROUP_CODE" val="l1-2"/>
  <p:tag name="KSO_WM_SLIDE_ANIMATION_ID" val="3115796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4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f"/>
  <p:tag name="KSO_WM_UNIT_INDEX" val="1"/>
  <p:tag name="KSO_WM_UNIT_ID" val="custom160393_4*f*1"/>
  <p:tag name="KSO_WM_UNIT_CLEAR" val="1"/>
  <p:tag name="KSO_WM_UNIT_LAYERLEVEL" val="1"/>
  <p:tag name="KSO_WM_UNIT_VALUE" val="135"/>
  <p:tag name="KSO_WM_UNIT_HIGHLIGHT" val="0"/>
  <p:tag name="KSO_WM_UNIT_COMPATIBLE" val="0"/>
  <p:tag name="KSO_WM_UNIT_PRESET_TEXT_INDEX" val="5"/>
  <p:tag name="KSO_WM_UNIT_PRESET_TEXT_LEN" val="232"/>
</p:tagLst>
</file>

<file path=ppt/tags/tag43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4"/>
  <p:tag name="KSO_WM_SLIDE_INDEX" val="4"/>
  <p:tag name="KSO_WM_SLIDE_ITEM_CNT" val="2"/>
  <p:tag name="KSO_WM_SLIDE_LAYOUT" val="a_f_d"/>
  <p:tag name="KSO_WM_SLIDE_LAYOUT_CNT" val="1_1_1"/>
  <p:tag name="KSO_WM_SLIDE_TYPE" val="text"/>
  <p:tag name="KSO_WM_BEAUTIFY_FLAG" val="#wm#"/>
  <p:tag name="KSO_WM_SLIDE_POSITION" val="73*50"/>
  <p:tag name="KSO_WM_SLIDE_SIZE" val="814*426"/>
</p:tagLst>
</file>

<file path=ppt/tags/tag4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4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f"/>
  <p:tag name="KSO_WM_UNIT_INDEX" val="1"/>
  <p:tag name="KSO_WM_UNIT_ID" val="custom160393_4*f*1"/>
  <p:tag name="KSO_WM_UNIT_CLEAR" val="1"/>
  <p:tag name="KSO_WM_UNIT_LAYERLEVEL" val="1"/>
  <p:tag name="KSO_WM_UNIT_VALUE" val="135"/>
  <p:tag name="KSO_WM_UNIT_HIGHLIGHT" val="0"/>
  <p:tag name="KSO_WM_UNIT_COMPATIBLE" val="0"/>
  <p:tag name="KSO_WM_UNIT_PRESET_TEXT_INDEX" val="5"/>
  <p:tag name="KSO_WM_UNIT_PRESET_TEXT_LEN" val="232"/>
</p:tagLst>
</file>

<file path=ppt/tags/tag46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4"/>
  <p:tag name="KSO_WM_SLIDE_INDEX" val="4"/>
  <p:tag name="KSO_WM_SLIDE_ITEM_CNT" val="2"/>
  <p:tag name="KSO_WM_SLIDE_LAYOUT" val="a_f_d"/>
  <p:tag name="KSO_WM_SLIDE_LAYOUT_CNT" val="1_1_1"/>
  <p:tag name="KSO_WM_SLIDE_TYPE" val="text"/>
  <p:tag name="KSO_WM_BEAUTIFY_FLAG" val="#wm#"/>
  <p:tag name="KSO_WM_SLIDE_POSITION" val="73*50"/>
  <p:tag name="KSO_WM_SLIDE_SIZE" val="814*426"/>
</p:tagLst>
</file>

<file path=ppt/tags/tag4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4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f"/>
  <p:tag name="KSO_WM_UNIT_INDEX" val="1"/>
  <p:tag name="KSO_WM_UNIT_ID" val="custom160393_4*f*1"/>
  <p:tag name="KSO_WM_UNIT_CLEAR" val="1"/>
  <p:tag name="KSO_WM_UNIT_LAYERLEVEL" val="1"/>
  <p:tag name="KSO_WM_UNIT_VALUE" val="135"/>
  <p:tag name="KSO_WM_UNIT_HIGHLIGHT" val="0"/>
  <p:tag name="KSO_WM_UNIT_COMPATIBLE" val="0"/>
  <p:tag name="KSO_WM_UNIT_PRESET_TEXT_INDEX" val="5"/>
  <p:tag name="KSO_WM_UNIT_PRESET_TEXT_LEN" val="232"/>
</p:tagLst>
</file>

<file path=ppt/tags/tag49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4"/>
  <p:tag name="KSO_WM_SLIDE_INDEX" val="4"/>
  <p:tag name="KSO_WM_SLIDE_ITEM_CNT" val="2"/>
  <p:tag name="KSO_WM_SLIDE_LAYOUT" val="a_f_d"/>
  <p:tag name="KSO_WM_SLIDE_LAYOUT_CNT" val="1_1_1"/>
  <p:tag name="KSO_WM_SLIDE_TYPE" val="text"/>
  <p:tag name="KSO_WM_BEAUTIFY_FLAG" val="#wm#"/>
  <p:tag name="KSO_WM_SLIDE_POSITION" val="73*50"/>
  <p:tag name="KSO_WM_SLIDE_SIZE" val="814*426"/>
</p:tagLst>
</file>

<file path=ppt/tags/tag5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4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f"/>
  <p:tag name="KSO_WM_UNIT_INDEX" val="1"/>
  <p:tag name="KSO_WM_UNIT_ID" val="custom160393_4*f*1"/>
  <p:tag name="KSO_WM_UNIT_CLEAR" val="1"/>
  <p:tag name="KSO_WM_UNIT_LAYERLEVEL" val="1"/>
  <p:tag name="KSO_WM_UNIT_VALUE" val="135"/>
  <p:tag name="KSO_WM_UNIT_HIGHLIGHT" val="0"/>
  <p:tag name="KSO_WM_UNIT_COMPATIBLE" val="0"/>
  <p:tag name="KSO_WM_UNIT_PRESET_TEXT_INDEX" val="5"/>
  <p:tag name="KSO_WM_UNIT_PRESET_TEXT_LEN" val="232"/>
</p:tagLst>
</file>

<file path=ppt/tags/tag52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4"/>
  <p:tag name="KSO_WM_SLIDE_INDEX" val="4"/>
  <p:tag name="KSO_WM_SLIDE_ITEM_CNT" val="2"/>
  <p:tag name="KSO_WM_SLIDE_LAYOUT" val="a_f_d"/>
  <p:tag name="KSO_WM_SLIDE_LAYOUT_CNT" val="1_1_1"/>
  <p:tag name="KSO_WM_SLIDE_TYPE" val="text"/>
  <p:tag name="KSO_WM_BEAUTIFY_FLAG" val="#wm#"/>
  <p:tag name="KSO_WM_SLIDE_POSITION" val="73*50"/>
  <p:tag name="KSO_WM_SLIDE_SIZE" val="814*426"/>
</p:tagLst>
</file>

<file path=ppt/tags/tag5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5*a*1"/>
  <p:tag name="KSO_WM_UNIT_CLEAR" val="1"/>
  <p:tag name="KSO_WM_UNIT_LAYERLEVEL" val="1"/>
  <p:tag name="KSO_WM_UNIT_VALUE" val="5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f"/>
  <p:tag name="KSO_WM_UNIT_INDEX" val="1"/>
  <p:tag name="KSO_WM_UNIT_ID" val="custom160393_5*f*1"/>
  <p:tag name="KSO_WM_UNIT_CLEAR" val="1"/>
  <p:tag name="KSO_WM_UNIT_LAYERLEVEL" val="1"/>
  <p:tag name="KSO_WM_UNIT_VALUE" val="76"/>
  <p:tag name="KSO_WM_UNIT_HIGHLIGHT" val="0"/>
  <p:tag name="KSO_WM_UNIT_COMPATIBLE" val="0"/>
  <p:tag name="KSO_WM_UNIT_PRESET_TEXT_INDEX" val="4"/>
  <p:tag name="KSO_WM_UNIT_PRESET_TEXT_LEN" val="57"/>
</p:tagLst>
</file>

<file path=ppt/tags/tag55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5"/>
  <p:tag name="KSO_WM_SLIDE_INDEX" val="5"/>
  <p:tag name="KSO_WM_SLIDE_ITEM_CNT" val="2"/>
  <p:tag name="KSO_WM_SLIDE_LAYOUT" val="a_f_d"/>
  <p:tag name="KSO_WM_SLIDE_LAYOUT_CNT" val="1_1_1"/>
  <p:tag name="KSO_WM_SLIDE_TYPE" val="text"/>
  <p:tag name="KSO_WM_BEAUTIFY_FLAG" val="#wm#"/>
  <p:tag name="KSO_WM_SLIDE_POSITION" val="122*100"/>
  <p:tag name="KSO_WM_SLIDE_SIZE" val="716*411"/>
</p:tagLst>
</file>

<file path=ppt/tags/tag5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12*a*1"/>
  <p:tag name="KSO_WM_UNIT_CLEAR" val="1"/>
  <p:tag name="KSO_WM_UNIT_LAYERLEVEL" val="1"/>
  <p:tag name="KSO_WM_UNIT_VALUE" val="17"/>
  <p:tag name="KSO_WM_UNIT_ISCONTENTSTITLE" val="0"/>
  <p:tag name="KSO_WM_UNIT_HIGHLIGHT" val="0"/>
  <p:tag name="KSO_WM_UNIT_COMPATIBLE" val="0"/>
  <p:tag name="KSO_WM_UNIT_PRESET_TEXT_INDEX" val="3"/>
  <p:tag name="KSO_WM_UNIT_PRESET_TEXT_LEN" val="11"/>
</p:tagLst>
</file>

<file path=ppt/tags/tag5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b"/>
  <p:tag name="KSO_WM_UNIT_INDEX" val="1"/>
  <p:tag name="KSO_WM_UNIT_ID" val="custom160393_12*b*1"/>
  <p:tag name="KSO_WM_UNIT_CLEAR" val="1"/>
  <p:tag name="KSO_WM_UNIT_LAYERLEVEL" val="1"/>
  <p:tag name="KSO_WM_UNIT_VALUE" val="52"/>
  <p:tag name="KSO_WM_UNIT_ISCONTENTSTITLE" val="0"/>
  <p:tag name="KSO_WM_UNIT_HIGHLIGHT" val="0"/>
  <p:tag name="KSO_WM_UNIT_COMPATIBLE" val="0"/>
  <p:tag name="KSO_WM_UNIT_PRESET_TEXT_INDEX" val="4"/>
  <p:tag name="KSO_WM_UNIT_PRESET_TEXT_LEN" val="57"/>
</p:tagLst>
</file>

<file path=ppt/tags/tag58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5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5*a*1"/>
  <p:tag name="KSO_WM_UNIT_CLEAR" val="1"/>
  <p:tag name="KSO_WM_UNIT_LAYERLEVEL" val="1"/>
  <p:tag name="KSO_WM_UNIT_VALUE" val="5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f"/>
  <p:tag name="KSO_WM_UNIT_INDEX" val="1"/>
  <p:tag name="KSO_WM_UNIT_ID" val="custom160393_5*f*1"/>
  <p:tag name="KSO_WM_UNIT_CLEAR" val="1"/>
  <p:tag name="KSO_WM_UNIT_LAYERLEVEL" val="1"/>
  <p:tag name="KSO_WM_UNIT_VALUE" val="76"/>
  <p:tag name="KSO_WM_UNIT_HIGHLIGHT" val="0"/>
  <p:tag name="KSO_WM_UNIT_COMPATIBLE" val="0"/>
  <p:tag name="KSO_WM_UNIT_PRESET_TEXT_INDEX" val="4"/>
  <p:tag name="KSO_WM_UNIT_PRESET_TEXT_LEN" val="57"/>
</p:tagLst>
</file>

<file path=ppt/tags/tag61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5"/>
  <p:tag name="KSO_WM_SLIDE_INDEX" val="5"/>
  <p:tag name="KSO_WM_SLIDE_ITEM_CNT" val="2"/>
  <p:tag name="KSO_WM_SLIDE_LAYOUT" val="a_f_d"/>
  <p:tag name="KSO_WM_SLIDE_LAYOUT_CNT" val="1_1_1"/>
  <p:tag name="KSO_WM_SLIDE_TYPE" val="text"/>
  <p:tag name="KSO_WM_BEAUTIFY_FLAG" val="#wm#"/>
  <p:tag name="KSO_WM_SLIDE_POSITION" val="122*100"/>
  <p:tag name="KSO_WM_SLIDE_SIZE" val="716*411"/>
</p:tagLst>
</file>

<file path=ppt/tags/tag6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393_2*i*0"/>
  <p:tag name="KSO_WM_TEMPLATE_CATEGORY" val="custom"/>
  <p:tag name="KSO_WM_TEMPLATE_INDEX" val="160393"/>
  <p:tag name="KSO_WM_UNIT_INDEX" val="0"/>
</p:tagLst>
</file>

<file path=ppt/tags/tag6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2*a*1"/>
  <p:tag name="KSO_WM_UNIT_CLEAR" val="1"/>
  <p:tag name="KSO_WM_UNIT_LAYERLEVEL" val="1"/>
  <p:tag name="KSO_WM_UNIT_VALUE" val="5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f"/>
  <p:tag name="KSO_WM_UNIT_INDEX" val="1"/>
  <p:tag name="KSO_WM_UNIT_ID" val="custom160393_2*f*1"/>
  <p:tag name="KSO_WM_UNIT_CLEAR" val="1"/>
  <p:tag name="KSO_WM_UNIT_LAYERLEVEL" val="1"/>
  <p:tag name="KSO_WM_UNIT_VALUE" val="400"/>
  <p:tag name="KSO_WM_UNIT_HIGHLIGHT" val="0"/>
  <p:tag name="KSO_WM_UNIT_COMPATIBLE" val="0"/>
  <p:tag name="KSO_WM_UNIT_PRESET_TEXT_INDEX" val="5"/>
  <p:tag name="KSO_WM_UNIT_PRESET_TEXT_LEN" val="232"/>
</p:tagLst>
</file>

<file path=ppt/tags/tag65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17"/>
  <p:tag name="KSO_WM_SLIDE_SIZE" val="828*369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393_2*i*0"/>
  <p:tag name="KSO_WM_TEMPLATE_CATEGORY" val="custom"/>
  <p:tag name="KSO_WM_TEMPLATE_INDEX" val="160393"/>
  <p:tag name="KSO_WM_UNIT_INDEX" val="0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2*a*1"/>
  <p:tag name="KSO_WM_UNIT_CLEAR" val="1"/>
  <p:tag name="KSO_WM_UNIT_LAYERLEVEL" val="1"/>
  <p:tag name="KSO_WM_UNIT_VALUE" val="5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f"/>
  <p:tag name="KSO_WM_UNIT_INDEX" val="1"/>
  <p:tag name="KSO_WM_UNIT_ID" val="custom160393_2*f*1"/>
  <p:tag name="KSO_WM_UNIT_CLEAR" val="1"/>
  <p:tag name="KSO_WM_UNIT_LAYERLEVEL" val="1"/>
  <p:tag name="KSO_WM_UNIT_VALUE" val="400"/>
  <p:tag name="KSO_WM_UNIT_HIGHLIGHT" val="0"/>
  <p:tag name="KSO_WM_UNIT_COMPATIBLE" val="0"/>
  <p:tag name="KSO_WM_UNIT_PRESET_TEXT_INDEX" val="5"/>
  <p:tag name="KSO_WM_UNIT_PRESET_TEXT_LEN" val="232"/>
</p:tagLst>
</file>

<file path=ppt/tags/tag69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17"/>
  <p:tag name="KSO_WM_SLIDE_SIZE" val="828*369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4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f"/>
  <p:tag name="KSO_WM_UNIT_INDEX" val="1"/>
  <p:tag name="KSO_WM_UNIT_ID" val="custom160393_4*f*1"/>
  <p:tag name="KSO_WM_UNIT_CLEAR" val="1"/>
  <p:tag name="KSO_WM_UNIT_LAYERLEVEL" val="1"/>
  <p:tag name="KSO_WM_UNIT_VALUE" val="135"/>
  <p:tag name="KSO_WM_UNIT_HIGHLIGHT" val="0"/>
  <p:tag name="KSO_WM_UNIT_COMPATIBLE" val="0"/>
  <p:tag name="KSO_WM_UNIT_PRESET_TEXT_INDEX" val="5"/>
  <p:tag name="KSO_WM_UNIT_PRESET_TEXT_LEN" val="232"/>
</p:tagLst>
</file>

<file path=ppt/tags/tag72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4"/>
  <p:tag name="KSO_WM_SLIDE_INDEX" val="4"/>
  <p:tag name="KSO_WM_SLIDE_ITEM_CNT" val="2"/>
  <p:tag name="KSO_WM_SLIDE_LAYOUT" val="a_f_d"/>
  <p:tag name="KSO_WM_SLIDE_LAYOUT_CNT" val="1_1_1"/>
  <p:tag name="KSO_WM_SLIDE_TYPE" val="text"/>
  <p:tag name="KSO_WM_BEAUTIFY_FLAG" val="#wm#"/>
  <p:tag name="KSO_WM_SLIDE_POSITION" val="73*50"/>
  <p:tag name="KSO_WM_SLIDE_SIZE" val="814*426"/>
</p:tagLst>
</file>

<file path=ppt/tags/tag7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14*a*1"/>
  <p:tag name="KSO_WM_UNIT_CLEAR" val="1"/>
  <p:tag name="KSO_WM_UNIT_LAYERLEVEL" val="1"/>
  <p:tag name="KSO_WM_UNIT_VALUE" val="14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b"/>
  <p:tag name="KSO_WM_UNIT_INDEX" val="1"/>
  <p:tag name="KSO_WM_UNIT_ID" val="custom160393_14*b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f"/>
  <p:tag name="KSO_WM_UNIT_INDEX" val="1"/>
  <p:tag name="KSO_WM_UNIT_ID" val="custom160393_14*f*1"/>
  <p:tag name="KSO_WM_UNIT_CLEAR" val="1"/>
  <p:tag name="KSO_WM_UNIT_LAYERLEVEL" val="1"/>
  <p:tag name="KSO_WM_UNIT_VALUE" val="70"/>
  <p:tag name="KSO_WM_UNIT_HIGHLIGHT" val="0"/>
  <p:tag name="KSO_WM_UNIT_COMPATIBLE" val="0"/>
  <p:tag name="KSO_WM_UNIT_PRESET_TEXT_INDEX" val="4"/>
  <p:tag name="KSO_WM_UNIT_PRESET_TEXT_LEN" val="57"/>
</p:tagLst>
</file>

<file path=ppt/tags/tag76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14"/>
  <p:tag name="KSO_WM_SLIDE_INDEX" val="14"/>
  <p:tag name="KSO_WM_SLIDE_ITEM_CNT" val="3"/>
  <p:tag name="KSO_WM_SLIDE_LAYOUT" val="a_b_f_d"/>
  <p:tag name="KSO_WM_SLIDE_LAYOUT_CNT" val="1_1_1_2"/>
  <p:tag name="KSO_WM_SLIDE_TYPE" val="text"/>
  <p:tag name="KSO_WM_BEAUTIFY_FLAG" val="#wm#"/>
  <p:tag name="KSO_WM_SLIDE_POSITION" val="106*120"/>
  <p:tag name="KSO_WM_SLIDE_SIZE" val="891*441"/>
</p:tagLst>
</file>

<file path=ppt/tags/tag7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93"/>
  <p:tag name="KSO_WM_UNIT_TYPE" val="a"/>
  <p:tag name="KSO_WM_UNIT_INDEX" val="1"/>
  <p:tag name="KSO_WM_UNIT_ID" val="custom160393_33*a*1"/>
  <p:tag name="KSO_WM_UNIT_CLEAR" val="1"/>
  <p:tag name="KSO_WM_UNIT_LAYERLEVEL" val="1"/>
  <p:tag name="KSO_WM_UNIT_VALUE" val="8"/>
  <p:tag name="KSO_WM_UNIT_ISCONTENTSTITLE" val="0"/>
  <p:tag name="KSO_WM_UNIT_HIGHLIGHT" val="0"/>
  <p:tag name="KSO_WM_UNIT_COMPATIBLE" val="0"/>
  <p:tag name="KSO_WM_UNIT_PRESET_TEXT" val="THANK YOU"/>
</p:tagLst>
</file>

<file path=ppt/tags/tag78.xml><?xml version="1.0" encoding="utf-8"?>
<p:tagLst xmlns:p="http://schemas.openxmlformats.org/presentationml/2006/main">
  <p:tag name="RESOURCEID" val="636440342935487115"/>
  <p:tag name="SCENEID" val="Unkown"/>
  <p:tag name="SCENELINKIDS" val="2|3"/>
  <p:tag name="ANIMSTRING" val="06845e1e48f104eaaa8e41c400262d67"/>
  <p:tag name="SCENESHAPETYPE" val="SceneShape"/>
  <p:tag name="SCENESHAPESUBTYPE" val="SceneSimpleShape"/>
  <p:tag name="SCENECOLOR-TEXT" val="Color_Theme"/>
  <p:tag name="SCENECOLOR-TEXT-VALUE" val="2"/>
  <p:tag name="PA" val="v5.2.2"/>
  <p:tag name="KSO_WM_UNIT_HIGHLIGHT" val="0"/>
  <p:tag name="KSO_WM_UNIT_COMPATIBLE" val="0"/>
  <p:tag name="KSO_WM_UNIT_DIAGRAM_ISNUMVISUAL" val="0"/>
  <p:tag name="KSO_WM_UNIT_DIAGRAM_ISREFERUNIT" val="0"/>
  <p:tag name="KSO_WM_UNIT_SUBTYPE" val="f"/>
  <p:tag name="KSO_WM_UNIT_ID" val="mixed20197618_1*i*1"/>
  <p:tag name="KSO_WM_TEMPLATE_CATEGORY" val="mixed"/>
  <p:tag name="KSO_WM_TEMPLATE_INDEX" val="20197618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9.xml><?xml version="1.0" encoding="utf-8"?>
<p:tagLst xmlns:p="http://schemas.openxmlformats.org/presentationml/2006/main">
  <p:tag name="KSO_WM_TEMPLATE_CATEGORY" val="custom"/>
  <p:tag name="KSO_WM_TEMPLATE_INDEX" val="160393"/>
  <p:tag name="KSO_WM_TAG_VERSION" val="1.0"/>
  <p:tag name="KSO_WM_SLIDE_ID" val="custom160393_33"/>
  <p:tag name="KSO_WM_SLIDE_INDEX" val="33"/>
  <p:tag name="KSO_WM_SLIDE_ITEM_CNT" val="1"/>
  <p:tag name="KSO_WM_SLIDE_LAYOUT" val="a"/>
  <p:tag name="KSO_WM_SLIDE_LAYOUT_CNT" val="1"/>
  <p:tag name="KSO_WM_SLIDE_TYPE" val="endPage"/>
  <p:tag name="KSO_WM_BEAUTIFY_FLAG" val="#wm#"/>
  <p:tag name="KSO_WM_SLIDE_ANIMATION_ID" val="3110586"/>
</p:tagLst>
</file>

<file path=ppt/theme/theme1.xml><?xml version="1.0" encoding="utf-8"?>
<a:theme xmlns:a="http://schemas.openxmlformats.org/drawingml/2006/main" name="Office 主题​​">
  <a:themeElements>
    <a:clrScheme name="2019空白演示文档">
      <a:dk1>
        <a:srgbClr val="000000"/>
      </a:dk1>
      <a:lt1>
        <a:srgbClr val="FFFFFF"/>
      </a:lt1>
      <a:dk2>
        <a:srgbClr val="E6E4E4"/>
      </a:dk2>
      <a:lt2>
        <a:srgbClr val="FFFFFF"/>
      </a:lt2>
      <a:accent1>
        <a:srgbClr val="477DEA"/>
      </a:accent1>
      <a:accent2>
        <a:srgbClr val="9B9B9B"/>
      </a:accent2>
      <a:accent3>
        <a:srgbClr val="F3B745"/>
      </a:accent3>
      <a:accent4>
        <a:srgbClr val="477EE7"/>
      </a:accent4>
      <a:accent5>
        <a:srgbClr val="4BA151"/>
      </a:accent5>
      <a:accent6>
        <a:srgbClr val="E9403C"/>
      </a:accent6>
      <a:hlink>
        <a:srgbClr val="0563C1"/>
      </a:hlink>
      <a:folHlink>
        <a:srgbClr val="954D72"/>
      </a:folHlink>
    </a:clrScheme>
    <a:fontScheme name="2019空白演示文档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A000120140530A99PPBG">
  <a:themeElements>
    <a:clrScheme name="自定义 92">
      <a:dk1>
        <a:srgbClr val="3F3F3F"/>
      </a:dk1>
      <a:lt1>
        <a:sysClr val="window" lastClr="FFFFFF"/>
      </a:lt1>
      <a:dk2>
        <a:srgbClr val="3F3F3F"/>
      </a:dk2>
      <a:lt2>
        <a:srgbClr val="FFFFFF"/>
      </a:lt2>
      <a:accent1>
        <a:srgbClr val="869D59"/>
      </a:accent1>
      <a:accent2>
        <a:srgbClr val="B4B75C"/>
      </a:accent2>
      <a:accent3>
        <a:srgbClr val="6E9671"/>
      </a:accent3>
      <a:accent4>
        <a:srgbClr val="555835"/>
      </a:accent4>
      <a:accent5>
        <a:srgbClr val="236B5F"/>
      </a:accent5>
      <a:accent6>
        <a:srgbClr val="95B3D7"/>
      </a:accent6>
      <a:hlink>
        <a:srgbClr val="0070C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1860</Words>
  <Application>WPS 演示</Application>
  <PresentationFormat>宽屏</PresentationFormat>
  <Paragraphs>125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黑体</vt:lpstr>
      <vt:lpstr>Wingdings 2</vt:lpstr>
      <vt:lpstr>Wingdings</vt:lpstr>
      <vt:lpstr>等线</vt:lpstr>
      <vt:lpstr>Calibri</vt:lpstr>
      <vt:lpstr>Arial Narrow</vt:lpstr>
      <vt:lpstr>微软雅黑</vt:lpstr>
      <vt:lpstr>Arial Unicode MS</vt:lpstr>
      <vt:lpstr>Office 主题​​</vt:lpstr>
      <vt:lpstr>1_A000120140530A99PPBG</vt:lpstr>
      <vt:lpstr>PowerPoint 演示文稿</vt:lpstr>
      <vt:lpstr>01 并查集是什么？</vt:lpstr>
      <vt:lpstr>并查集是什么？</vt:lpstr>
      <vt:lpstr>并查集的特点</vt:lpstr>
      <vt:lpstr>02 如何实现并查集？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并查集相关例题——图的最小生成树</vt:lpstr>
      <vt:lpstr>PowerPoint 演示文稿</vt:lpstr>
      <vt:lpstr>3-1 最小生成树相关概念</vt:lpstr>
      <vt:lpstr>3-2 Kruscal算法实现流程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kingsoft</dc:creator>
  <cp:lastModifiedBy>孙小珍</cp:lastModifiedBy>
  <cp:revision>412</cp:revision>
  <dcterms:created xsi:type="dcterms:W3CDTF">2017-08-03T09:01:00Z</dcterms:created>
  <dcterms:modified xsi:type="dcterms:W3CDTF">2020-08-12T00:36:27Z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